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28813" y="776576"/>
            <a:ext cx="5286375" cy="10972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FF6B35"/>
                </a:solidFill>
              </a:rPr>
              <a:t>ASP.NET Core Interview Questions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1928813" y="2016686"/>
            <a:ext cx="5286375" cy="29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138808"/>
                </a:solidFill>
              </a:rPr>
              <a:t>Beginner's Guide (Hinglish)</a:t>
            </a:r>
            <a:endParaRPr lang="en-US" sz="1602" dirty="0"/>
          </a:p>
        </p:txBody>
      </p:sp>
      <p:sp>
        <p:nvSpPr>
          <p:cNvPr id="5" name="Shape 2"/>
          <p:cNvSpPr/>
          <p:nvPr/>
        </p:nvSpPr>
        <p:spPr>
          <a:xfrm>
            <a:off x="2887833" y="2599599"/>
            <a:ext cx="475729" cy="292894"/>
          </a:xfrm>
          <a:prstGeom prst="rect">
            <a:avLst/>
          </a:prstGeom>
          <a:solidFill>
            <a:srgbClr val="FFD700"/>
          </a:solidFill>
          <a:ln w="18288">
            <a:solidFill>
              <a:srgbClr val="FF6B3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887833" y="2599599"/>
            <a:ext cx="475729" cy="292894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2C3E50"/>
                </a:solidFill>
              </a:rPr>
              <a:t>MVC</a:t>
            </a:r>
            <a:endParaRPr lang="en-US" sz="683" dirty="0"/>
          </a:p>
        </p:txBody>
      </p:sp>
      <p:sp>
        <p:nvSpPr>
          <p:cNvPr id="7" name="Shape 4"/>
          <p:cNvSpPr/>
          <p:nvPr/>
        </p:nvSpPr>
        <p:spPr>
          <a:xfrm>
            <a:off x="3456431" y="2599599"/>
            <a:ext cx="663253" cy="292894"/>
          </a:xfrm>
          <a:prstGeom prst="rect">
            <a:avLst/>
          </a:prstGeom>
          <a:solidFill>
            <a:srgbClr val="FFD700"/>
          </a:solidFill>
          <a:ln w="18288">
            <a:solidFill>
              <a:srgbClr val="FF6B3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456431" y="2599599"/>
            <a:ext cx="663253" cy="292894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2C3E50"/>
                </a:solidFill>
              </a:rPr>
              <a:t>Web API</a:t>
            </a:r>
            <a:endParaRPr lang="en-US" sz="683" dirty="0"/>
          </a:p>
        </p:txBody>
      </p:sp>
      <p:sp>
        <p:nvSpPr>
          <p:cNvPr id="9" name="Shape 6"/>
          <p:cNvSpPr/>
          <p:nvPr/>
        </p:nvSpPr>
        <p:spPr>
          <a:xfrm>
            <a:off x="4212552" y="2599599"/>
            <a:ext cx="1121987" cy="292894"/>
          </a:xfrm>
          <a:prstGeom prst="rect">
            <a:avLst/>
          </a:prstGeom>
          <a:solidFill>
            <a:srgbClr val="FFD700"/>
          </a:solidFill>
          <a:ln w="18288">
            <a:solidFill>
              <a:srgbClr val="FF6B3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212552" y="2599599"/>
            <a:ext cx="1121987" cy="292894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2C3E50"/>
                </a:solidFill>
              </a:rPr>
              <a:t>Entity Framework</a:t>
            </a:r>
            <a:endParaRPr lang="en-US" sz="683" dirty="0"/>
          </a:p>
        </p:txBody>
      </p:sp>
      <p:sp>
        <p:nvSpPr>
          <p:cNvPr id="11" name="Shape 8"/>
          <p:cNvSpPr/>
          <p:nvPr/>
        </p:nvSpPr>
        <p:spPr>
          <a:xfrm>
            <a:off x="5427408" y="2599599"/>
            <a:ext cx="785868" cy="292894"/>
          </a:xfrm>
          <a:prstGeom prst="rect">
            <a:avLst/>
          </a:prstGeom>
          <a:solidFill>
            <a:srgbClr val="FFD700"/>
          </a:solidFill>
          <a:ln w="18288">
            <a:solidFill>
              <a:srgbClr val="FF6B3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27408" y="2599599"/>
            <a:ext cx="785868" cy="292894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2C3E50"/>
                </a:solidFill>
              </a:rPr>
              <a:t>SQL Server</a:t>
            </a:r>
            <a:endParaRPr lang="en-US" sz="683" dirty="0"/>
          </a:p>
        </p:txBody>
      </p:sp>
      <p:sp>
        <p:nvSpPr>
          <p:cNvPr id="13" name="Text 10"/>
          <p:cNvSpPr/>
          <p:nvPr/>
        </p:nvSpPr>
        <p:spPr>
          <a:xfrm>
            <a:off x="1928813" y="3092518"/>
            <a:ext cx="5286375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2C3E50"/>
                </a:solidFill>
              </a:rPr>
              <a:t>Aapka pehla step </a:t>
            </a:r>
            <a:pPr algn="ctr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FFD700"/>
                </a:solidFill>
              </a:rPr>
              <a:t>.NET development</a:t>
            </a:r>
            <a:pPr algn="ctr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2C3E50"/>
                </a:solidFill>
              </a:rPr>
              <a:t> ki duniya mein!</a:t>
            </a:r>
            <a:endParaRPr lang="en-US" sz="885" dirty="0"/>
          </a:p>
        </p:txBody>
      </p:sp>
      <p:sp>
        <p:nvSpPr>
          <p:cNvPr id="14" name="Text 11"/>
          <p:cNvSpPr/>
          <p:nvPr/>
        </p:nvSpPr>
        <p:spPr>
          <a:xfrm>
            <a:off x="1928813" y="3405392"/>
            <a:ext cx="5286375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2C3E50"/>
                </a:solidFill>
              </a:rPr>
              <a:t>Hum dekhenge sabse </a:t>
            </a:r>
            <a:pPr algn="ctr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FFD700"/>
                </a:solidFill>
              </a:rPr>
              <a:t>important concepts</a:t>
            </a:r>
            <a:pPr algn="ctr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2C3E50"/>
                </a:solidFill>
              </a:rPr>
              <a:t> jo interviews mein puche jaate hain.</a:t>
            </a:r>
            <a:endParaRPr lang="en-US" sz="885" dirty="0"/>
          </a:p>
        </p:txBody>
      </p:sp>
      <p:sp>
        <p:nvSpPr>
          <p:cNvPr id="15" name="Text 12"/>
          <p:cNvSpPr/>
          <p:nvPr/>
        </p:nvSpPr>
        <p:spPr>
          <a:xfrm>
            <a:off x="1928813" y="3718266"/>
            <a:ext cx="5286375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2C3E50"/>
                </a:solidFill>
              </a:rPr>
              <a:t>Focus: </a:t>
            </a:r>
            <a:pPr algn="ctr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FFD700"/>
                </a:solidFill>
              </a:rPr>
              <a:t>Simple explanation</a:t>
            </a:r>
            <a:pPr algn="ctr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2C3E50"/>
                </a:solidFill>
              </a:rPr>
              <a:t> aur </a:t>
            </a:r>
            <a:pPr algn="ctr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FFD700"/>
                </a:solidFill>
              </a:rPr>
              <a:t>practical examples</a:t>
            </a:r>
            <a:pPr algn="ctr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2C3E50"/>
                </a:solidFill>
              </a:rPr>
              <a:t>.</a:t>
            </a:r>
            <a:endParaRPr lang="en-US" sz="885" dirty="0"/>
          </a:p>
        </p:txBody>
      </p:sp>
      <p:sp>
        <p:nvSpPr>
          <p:cNvPr id="16" name="Text 13"/>
          <p:cNvSpPr/>
          <p:nvPr/>
        </p:nvSpPr>
        <p:spPr>
          <a:xfrm>
            <a:off x="1928813" y="4138296"/>
            <a:ext cx="528637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6B35"/>
                </a:solidFill>
              </a:rPr>
              <a:t>🚀 Chalo Shuru Karte Hain! 🚀</a:t>
            </a:r>
            <a:endParaRPr lang="en-US" sz="987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7188" y="669420"/>
            <a:ext cx="4143375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6B35"/>
                </a:solidFill>
              </a:rPr>
              <a:t>Dependency Injection (DI):</a:t>
            </a:r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6B35"/>
                </a:solidFill>
              </a:rPr>
              <a:t>
</a:t>
            </a:r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6B35"/>
                </a:solidFill>
              </a:rPr>
              <a:t>Code ko Clean aur Flexible Banata </a:t>
            </a:r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6B35"/>
                </a:solidFill>
              </a:rPr>
              <a:t>Hai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357188" y="1578071"/>
            <a:ext cx="41433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i="1" dirty="0">
                <a:solidFill>
                  <a:srgbClr val="138808"/>
                </a:solidFill>
              </a:rPr>
              <a:t>Jab ek class doosri class par depend karti hai, toh DI use hota hai.</a:t>
            </a:r>
            <a:endParaRPr lang="en-US" sz="784" dirty="0"/>
          </a:p>
        </p:txBody>
      </p:sp>
      <p:sp>
        <p:nvSpPr>
          <p:cNvPr id="5" name="Text 2"/>
          <p:cNvSpPr/>
          <p:nvPr/>
        </p:nvSpPr>
        <p:spPr>
          <a:xfrm>
            <a:off x="357188" y="1935259"/>
            <a:ext cx="64433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6B35"/>
                </a:solidFill>
              </a:rPr>
              <a:t>DI Kya Hai?</a:t>
            </a:r>
            <a:endParaRPr lang="en-US" sz="784" dirty="0"/>
          </a:p>
        </p:txBody>
      </p:sp>
      <p:sp>
        <p:nvSpPr>
          <p:cNvPr id="6" name="Text 3"/>
          <p:cNvSpPr/>
          <p:nvPr/>
        </p:nvSpPr>
        <p:spPr>
          <a:xfrm>
            <a:off x="464344" y="2142427"/>
            <a:ext cx="4036219" cy="300038"/>
          </a:xfrm>
          <a:prstGeom prst="rect">
            <a:avLst/>
          </a:prstGeom>
          <a:noFill/>
          <a:ln/>
        </p:spPr>
        <p:txBody>
          <a:bodyPr wrap="square" lIns="102108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DI ek design pattern hai jisme ek class apni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2C3E50"/>
                </a:solidFill>
              </a:rPr>
              <a:t>dependencies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 (jin cheezon ki use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zaroorat hai) khud nahi banati.</a:t>
            </a:r>
            <a:endParaRPr lang="en-US" sz="727" dirty="0"/>
          </a:p>
        </p:txBody>
      </p:sp>
      <p:sp>
        <p:nvSpPr>
          <p:cNvPr id="7" name="Text 4"/>
          <p:cNvSpPr/>
          <p:nvPr/>
        </p:nvSpPr>
        <p:spPr>
          <a:xfrm>
            <a:off x="357188" y="2592484"/>
            <a:ext cx="100905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6B35"/>
                </a:solidFill>
              </a:rPr>
              <a:t>Kaun Banata Hai?</a:t>
            </a:r>
            <a:endParaRPr lang="en-US" sz="784" dirty="0"/>
          </a:p>
        </p:txBody>
      </p:sp>
      <p:sp>
        <p:nvSpPr>
          <p:cNvPr id="8" name="Text 5"/>
          <p:cNvSpPr/>
          <p:nvPr/>
        </p:nvSpPr>
        <p:spPr>
          <a:xfrm>
            <a:off x="464344" y="2799652"/>
            <a:ext cx="4036219" cy="300038"/>
          </a:xfrm>
          <a:prstGeom prst="rect">
            <a:avLst/>
          </a:prstGeom>
          <a:noFill/>
          <a:ln/>
        </p:spPr>
        <p:txBody>
          <a:bodyPr wrap="square" lIns="102108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Ek special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2C3E50"/>
                </a:solidFill>
              </a:rPr>
              <a:t>Container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 (jise IoC Container kehte hain) un dependencies ko bana kar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class ko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2C3E50"/>
                </a:solidFill>
              </a:rPr>
              <a:t>inject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 karta hai.</a:t>
            </a:r>
            <a:endParaRPr lang="en-US" sz="727" dirty="0"/>
          </a:p>
        </p:txBody>
      </p:sp>
      <p:sp>
        <p:nvSpPr>
          <p:cNvPr id="9" name="Text 6"/>
          <p:cNvSpPr/>
          <p:nvPr/>
        </p:nvSpPr>
        <p:spPr>
          <a:xfrm>
            <a:off x="357188" y="3249709"/>
            <a:ext cx="89372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6B35"/>
                </a:solidFill>
              </a:rPr>
              <a:t>Fayda (Benefit):</a:t>
            </a:r>
            <a:endParaRPr lang="en-US" sz="784" dirty="0"/>
          </a:p>
        </p:txBody>
      </p:sp>
      <p:sp>
        <p:nvSpPr>
          <p:cNvPr id="10" name="Text 7"/>
          <p:cNvSpPr/>
          <p:nvPr/>
        </p:nvSpPr>
        <p:spPr>
          <a:xfrm>
            <a:off x="464344" y="3456877"/>
            <a:ext cx="4036219" cy="300038"/>
          </a:xfrm>
          <a:prstGeom prst="rect">
            <a:avLst/>
          </a:prstGeom>
          <a:noFill/>
          <a:ln/>
        </p:spPr>
        <p:txBody>
          <a:bodyPr wrap="square" lIns="102108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Code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2C3E50"/>
                </a:solidFill>
              </a:rPr>
              <a:t>loosely coupled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 ho jaata hai. Agar dependency change karni ho, toh sirf ek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jagah change karna padta hai.</a:t>
            </a:r>
            <a:endParaRPr lang="en-US" sz="727" dirty="0"/>
          </a:p>
        </p:txBody>
      </p:sp>
      <p:sp>
        <p:nvSpPr>
          <p:cNvPr id="11" name="Text 8"/>
          <p:cNvSpPr/>
          <p:nvPr/>
        </p:nvSpPr>
        <p:spPr>
          <a:xfrm>
            <a:off x="357188" y="3906934"/>
            <a:ext cx="51870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6B35"/>
                </a:solidFill>
              </a:rPr>
              <a:t>Example:</a:t>
            </a:r>
            <a:endParaRPr lang="en-US" sz="784" dirty="0"/>
          </a:p>
        </p:txBody>
      </p:sp>
      <p:sp>
        <p:nvSpPr>
          <p:cNvPr id="12" name="Shape 9"/>
          <p:cNvSpPr/>
          <p:nvPr/>
        </p:nvSpPr>
        <p:spPr>
          <a:xfrm>
            <a:off x="357188" y="4128390"/>
            <a:ext cx="4143375" cy="531428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3" name="Shape 10"/>
          <p:cNvSpPr/>
          <p:nvPr/>
        </p:nvSpPr>
        <p:spPr>
          <a:xfrm>
            <a:off x="357188" y="4128390"/>
            <a:ext cx="28575" cy="531428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4" name="Text 11"/>
          <p:cNvSpPr/>
          <p:nvPr/>
        </p:nvSpPr>
        <p:spPr>
          <a:xfrm>
            <a:off x="357188" y="4128390"/>
            <a:ext cx="4143375" cy="531428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2C3E50"/>
                </a:solidFill>
              </a:rPr>
              <a:t>builder.Services.AddScoped&lt;IEmployeeService, EmployeeService&gt;();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2C3E50"/>
                </a:solidFill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2C3E50"/>
                </a:solidFill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621" i="1" dirty="0">
                <a:solidFill>
                  <a:srgbClr val="2C3E50"/>
                </a:solidFill>
              </a:rPr>
              <a:t>Meaning: Jab bhi koi IEmployeeService maangega, toh EmployeeService ka object milega.</a:t>
            </a:r>
            <a:endParaRPr lang="en-US" sz="621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875" y="1700213"/>
            <a:ext cx="4143375" cy="20716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7188" y="328613"/>
            <a:ext cx="4972050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6B35"/>
                </a:solidFill>
              </a:rPr>
              <a:t>DI Lifetimes: Object ki Zindagi (Life) Kitni Hoti Hai?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357188" y="948668"/>
            <a:ext cx="49720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i="1" dirty="0">
                <a:solidFill>
                  <a:srgbClr val="138808"/>
                </a:solidFill>
              </a:rPr>
              <a:t>Teen main tarah ki lifetimes hoti hain: Transient, Scoped, aur Singleton.</a:t>
            </a:r>
            <a:endParaRPr lang="en-US" sz="784" dirty="0"/>
          </a:p>
        </p:txBody>
      </p:sp>
      <p:sp>
        <p:nvSpPr>
          <p:cNvPr id="5" name="Shape 2"/>
          <p:cNvSpPr/>
          <p:nvPr/>
        </p:nvSpPr>
        <p:spPr>
          <a:xfrm>
            <a:off x="364331" y="1305855"/>
            <a:ext cx="4957763" cy="32504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364331" y="1305855"/>
            <a:ext cx="658369" cy="325041"/>
          </a:xfrm>
          <a:prstGeom prst="rect">
            <a:avLst/>
          </a:prstGeom>
          <a:solidFill>
            <a:srgbClr val="FF6B35"/>
          </a:solidFill>
          <a:ln w="18288">
            <a:solidFill>
              <a:srgbClr val="13880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4331" y="1305855"/>
            <a:ext cx="658369" cy="325041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FFFFFF"/>
                </a:solidFill>
              </a:rPr>
              <a:t>Lifetime</a:t>
            </a:r>
            <a:endParaRPr lang="en-US" sz="634" dirty="0"/>
          </a:p>
        </p:txBody>
      </p:sp>
      <p:sp>
        <p:nvSpPr>
          <p:cNvPr id="8" name="Shape 5"/>
          <p:cNvSpPr/>
          <p:nvPr/>
        </p:nvSpPr>
        <p:spPr>
          <a:xfrm>
            <a:off x="1019603" y="1305855"/>
            <a:ext cx="2064069" cy="325041"/>
          </a:xfrm>
          <a:prstGeom prst="rect">
            <a:avLst/>
          </a:prstGeom>
          <a:solidFill>
            <a:srgbClr val="FF6B35"/>
          </a:solidFill>
          <a:ln w="18288">
            <a:solidFill>
              <a:srgbClr val="13880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19603" y="1305855"/>
            <a:ext cx="2064069" cy="325041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FFFFFF"/>
                </a:solidFill>
              </a:rPr>
              <a:t>Meaning (Hinglish)</a:t>
            </a:r>
            <a:endParaRPr lang="en-US" sz="634" dirty="0"/>
          </a:p>
        </p:txBody>
      </p:sp>
      <p:sp>
        <p:nvSpPr>
          <p:cNvPr id="10" name="Shape 7"/>
          <p:cNvSpPr/>
          <p:nvPr/>
        </p:nvSpPr>
        <p:spPr>
          <a:xfrm>
            <a:off x="3083672" y="1305855"/>
            <a:ext cx="2238422" cy="325041"/>
          </a:xfrm>
          <a:prstGeom prst="rect">
            <a:avLst/>
          </a:prstGeom>
          <a:solidFill>
            <a:srgbClr val="FF6B35"/>
          </a:solidFill>
          <a:ln w="18288">
            <a:solidFill>
              <a:srgbClr val="13880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083672" y="1305855"/>
            <a:ext cx="2238422" cy="325041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FFFFFF"/>
                </a:solidFill>
              </a:rPr>
              <a:t>Example (Analogy)</a:t>
            </a:r>
            <a:endParaRPr lang="en-US" sz="634" dirty="0"/>
          </a:p>
        </p:txBody>
      </p:sp>
      <p:sp>
        <p:nvSpPr>
          <p:cNvPr id="12" name="Shape 9"/>
          <p:cNvSpPr/>
          <p:nvPr/>
        </p:nvSpPr>
        <p:spPr>
          <a:xfrm>
            <a:off x="360759" y="1613036"/>
            <a:ext cx="4964906" cy="3086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450056" y="1702333"/>
            <a:ext cx="43724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FF6B35"/>
                </a:solidFill>
              </a:rPr>
              <a:t>Transient</a:t>
            </a:r>
            <a:endParaRPr lang="en-US" sz="634" dirty="0"/>
          </a:p>
        </p:txBody>
      </p:sp>
      <p:sp>
        <p:nvSpPr>
          <p:cNvPr id="14" name="Text 11"/>
          <p:cNvSpPr/>
          <p:nvPr/>
        </p:nvSpPr>
        <p:spPr>
          <a:xfrm>
            <a:off x="1020077" y="1613036"/>
            <a:ext cx="2065548" cy="30860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Har baar naya object milega.</a:t>
            </a:r>
            <a:endParaRPr lang="en-US" sz="674" dirty="0"/>
          </a:p>
        </p:txBody>
      </p:sp>
      <p:sp>
        <p:nvSpPr>
          <p:cNvPr id="15" name="Text 12"/>
          <p:cNvSpPr/>
          <p:nvPr/>
        </p:nvSpPr>
        <p:spPr>
          <a:xfrm>
            <a:off x="3174922" y="1702333"/>
            <a:ext cx="152845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i="1" dirty="0">
                <a:solidFill>
                  <a:srgbClr val="138808"/>
                </a:solidFill>
              </a:rPr>
              <a:t>Har request ke liye naya Chai ka Cup.</a:t>
            </a:r>
            <a:endParaRPr lang="en-US" sz="674" dirty="0"/>
          </a:p>
        </p:txBody>
      </p:sp>
      <p:sp>
        <p:nvSpPr>
          <p:cNvPr id="16" name="Shape 13"/>
          <p:cNvSpPr/>
          <p:nvPr/>
        </p:nvSpPr>
        <p:spPr>
          <a:xfrm>
            <a:off x="360759" y="1921641"/>
            <a:ext cx="4964906" cy="308604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17" name="Text 14"/>
          <p:cNvSpPr/>
          <p:nvPr/>
        </p:nvSpPr>
        <p:spPr>
          <a:xfrm>
            <a:off x="450056" y="2010938"/>
            <a:ext cx="32886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FF6B35"/>
                </a:solidFill>
              </a:rPr>
              <a:t>Scoped</a:t>
            </a:r>
            <a:endParaRPr lang="en-US" sz="634" dirty="0"/>
          </a:p>
        </p:txBody>
      </p:sp>
      <p:sp>
        <p:nvSpPr>
          <p:cNvPr id="18" name="Text 15"/>
          <p:cNvSpPr/>
          <p:nvPr/>
        </p:nvSpPr>
        <p:spPr>
          <a:xfrm>
            <a:off x="1020077" y="1921641"/>
            <a:ext cx="2065548" cy="30860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Ek HTTP Request ke liye same object.</a:t>
            </a:r>
            <a:endParaRPr lang="en-US" sz="674" dirty="0"/>
          </a:p>
        </p:txBody>
      </p:sp>
      <p:sp>
        <p:nvSpPr>
          <p:cNvPr id="19" name="Text 16"/>
          <p:cNvSpPr/>
          <p:nvPr/>
        </p:nvSpPr>
        <p:spPr>
          <a:xfrm>
            <a:off x="3174922" y="2010938"/>
            <a:ext cx="179888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i="1" dirty="0">
                <a:solidFill>
                  <a:srgbClr val="138808"/>
                </a:solidFill>
              </a:rPr>
              <a:t>Ek Lunch ki Thali jo poore lunch tak chalegi.</a:t>
            </a:r>
            <a:endParaRPr lang="en-US" sz="674" dirty="0"/>
          </a:p>
        </p:txBody>
      </p:sp>
      <p:sp>
        <p:nvSpPr>
          <p:cNvPr id="20" name="Shape 17"/>
          <p:cNvSpPr/>
          <p:nvPr/>
        </p:nvSpPr>
        <p:spPr>
          <a:xfrm>
            <a:off x="360759" y="2230245"/>
            <a:ext cx="4964906" cy="3086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8"/>
          <p:cNvSpPr/>
          <p:nvPr/>
        </p:nvSpPr>
        <p:spPr>
          <a:xfrm>
            <a:off x="450056" y="2319542"/>
            <a:ext cx="44132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FF6B35"/>
                </a:solidFill>
              </a:rPr>
              <a:t>Singleton</a:t>
            </a:r>
            <a:endParaRPr lang="en-US" sz="634" dirty="0"/>
          </a:p>
        </p:txBody>
      </p:sp>
      <p:sp>
        <p:nvSpPr>
          <p:cNvPr id="22" name="Text 19"/>
          <p:cNvSpPr/>
          <p:nvPr/>
        </p:nvSpPr>
        <p:spPr>
          <a:xfrm>
            <a:off x="1020077" y="2230245"/>
            <a:ext cx="2065548" cy="30860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Application start se end tak same object.</a:t>
            </a:r>
            <a:endParaRPr lang="en-US" sz="674" dirty="0"/>
          </a:p>
        </p:txBody>
      </p:sp>
      <p:sp>
        <p:nvSpPr>
          <p:cNvPr id="23" name="Text 20"/>
          <p:cNvSpPr/>
          <p:nvPr/>
        </p:nvSpPr>
        <p:spPr>
          <a:xfrm>
            <a:off x="3174922" y="2319542"/>
            <a:ext cx="192750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i="1" dirty="0">
                <a:solidFill>
                  <a:srgbClr val="138808"/>
                </a:solidFill>
              </a:rPr>
              <a:t>Ghar ka Main Gate jo hamesha wahi rehta hai.</a:t>
            </a:r>
            <a:endParaRPr lang="en-US" sz="674" dirty="0"/>
          </a:p>
        </p:txBody>
      </p:sp>
      <p:sp>
        <p:nvSpPr>
          <p:cNvPr id="24" name="Shape 21"/>
          <p:cNvSpPr/>
          <p:nvPr/>
        </p:nvSpPr>
        <p:spPr>
          <a:xfrm>
            <a:off x="357188" y="2792453"/>
            <a:ext cx="4972050" cy="321469"/>
          </a:xfrm>
          <a:prstGeom prst="rect">
            <a:avLst/>
          </a:prstGeom>
          <a:solidFill>
            <a:srgbClr val="FFF9E6"/>
          </a:solidFill>
          <a:ln/>
        </p:spPr>
      </p:sp>
      <p:sp>
        <p:nvSpPr>
          <p:cNvPr id="25" name="Shape 22"/>
          <p:cNvSpPr/>
          <p:nvPr/>
        </p:nvSpPr>
        <p:spPr>
          <a:xfrm>
            <a:off x="357188" y="2792453"/>
            <a:ext cx="28575" cy="321469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26" name="Text 23"/>
          <p:cNvSpPr/>
          <p:nvPr/>
        </p:nvSpPr>
        <p:spPr>
          <a:xfrm>
            <a:off x="357188" y="2792453"/>
            <a:ext cx="4972050" cy="321469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6B35"/>
                </a:solidFill>
              </a:rPr>
              <a:t>💡 Use Case: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 Database connection (Scoped) ya utility service (Singleton) ke liye.</a:t>
            </a:r>
            <a:endParaRPr lang="en-US" sz="683" dirty="0"/>
          </a:p>
        </p:txBody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3550" y="1890275"/>
            <a:ext cx="3314700" cy="169153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7188" y="328613"/>
            <a:ext cx="4557713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6B35"/>
                </a:solidFill>
              </a:rPr>
              <a:t>MVC aur Web API: Dono Ka Kaam Alag Hai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357188" y="948668"/>
            <a:ext cx="45577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i="1" dirty="0">
                <a:solidFill>
                  <a:srgbClr val="138808"/>
                </a:solidFill>
              </a:rPr>
              <a:t>Dono hi ASP.NET Core mein bante hain, par unka output different hota hai.</a:t>
            </a:r>
            <a:endParaRPr lang="en-US" sz="784" dirty="0"/>
          </a:p>
        </p:txBody>
      </p:sp>
      <p:sp>
        <p:nvSpPr>
          <p:cNvPr id="5" name="Shape 2"/>
          <p:cNvSpPr/>
          <p:nvPr/>
        </p:nvSpPr>
        <p:spPr>
          <a:xfrm>
            <a:off x="364331" y="1270136"/>
            <a:ext cx="4543425" cy="2857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364331" y="1270136"/>
            <a:ext cx="567482" cy="285750"/>
          </a:xfrm>
          <a:prstGeom prst="rect">
            <a:avLst/>
          </a:prstGeom>
          <a:solidFill>
            <a:srgbClr val="138808"/>
          </a:solidFill>
          <a:ln w="18288">
            <a:solidFill>
              <a:srgbClr val="FF6B3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4331" y="1270136"/>
            <a:ext cx="567482" cy="28575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Feature</a:t>
            </a:r>
            <a:endParaRPr lang="en-US" sz="584" dirty="0"/>
          </a:p>
        </p:txBody>
      </p:sp>
      <p:sp>
        <p:nvSpPr>
          <p:cNvPr id="8" name="Shape 5"/>
          <p:cNvSpPr/>
          <p:nvPr/>
        </p:nvSpPr>
        <p:spPr>
          <a:xfrm>
            <a:off x="928688" y="1270136"/>
            <a:ext cx="1474152" cy="285750"/>
          </a:xfrm>
          <a:prstGeom prst="rect">
            <a:avLst/>
          </a:prstGeom>
          <a:solidFill>
            <a:srgbClr val="E8F5E9"/>
          </a:solidFill>
          <a:ln w="18288">
            <a:solidFill>
              <a:srgbClr val="FF6B3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28688" y="1270136"/>
            <a:ext cx="1474152" cy="28575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ASP.NET Core MVC</a:t>
            </a:r>
            <a:endParaRPr lang="en-US" sz="584" dirty="0"/>
          </a:p>
        </p:txBody>
      </p:sp>
      <p:sp>
        <p:nvSpPr>
          <p:cNvPr id="10" name="Shape 7"/>
          <p:cNvSpPr/>
          <p:nvPr/>
        </p:nvSpPr>
        <p:spPr>
          <a:xfrm>
            <a:off x="2402839" y="1270136"/>
            <a:ext cx="2504917" cy="285750"/>
          </a:xfrm>
          <a:prstGeom prst="rect">
            <a:avLst/>
          </a:prstGeom>
          <a:solidFill>
            <a:srgbClr val="FFF3E0"/>
          </a:solidFill>
          <a:ln w="18288">
            <a:solidFill>
              <a:srgbClr val="FF6B3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402839" y="1270136"/>
            <a:ext cx="2504917" cy="28575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ASP.NET Core Web API</a:t>
            </a:r>
            <a:endParaRPr lang="en-US" sz="584" dirty="0"/>
          </a:p>
        </p:txBody>
      </p:sp>
      <p:sp>
        <p:nvSpPr>
          <p:cNvPr id="12" name="Shape 9"/>
          <p:cNvSpPr/>
          <p:nvPr/>
        </p:nvSpPr>
        <p:spPr>
          <a:xfrm>
            <a:off x="360759" y="1538027"/>
            <a:ext cx="4550569" cy="27001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435769" y="1614822"/>
            <a:ext cx="30958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FF6B35"/>
                </a:solidFill>
              </a:rPr>
              <a:t>Output</a:t>
            </a:r>
            <a:endParaRPr lang="en-US" sz="584" dirty="0"/>
          </a:p>
        </p:txBody>
      </p:sp>
      <p:sp>
        <p:nvSpPr>
          <p:cNvPr id="14" name="Shape 11"/>
          <p:cNvSpPr/>
          <p:nvPr/>
        </p:nvSpPr>
        <p:spPr>
          <a:xfrm>
            <a:off x="929134" y="1538027"/>
            <a:ext cx="1475324" cy="270011"/>
          </a:xfrm>
          <a:prstGeom prst="rect">
            <a:avLst/>
          </a:prstGeom>
          <a:solidFill>
            <a:srgbClr val="E8F5E9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04143" y="1613036"/>
            <a:ext cx="24682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2C3E50"/>
                </a:solidFill>
              </a:rPr>
              <a:t>Views</a:t>
            </a:r>
            <a:endParaRPr lang="en-US" sz="584" dirty="0"/>
          </a:p>
        </p:txBody>
      </p:sp>
      <p:sp>
        <p:nvSpPr>
          <p:cNvPr id="16" name="Text 13"/>
          <p:cNvSpPr/>
          <p:nvPr/>
        </p:nvSpPr>
        <p:spPr>
          <a:xfrm>
            <a:off x="1250966" y="1613036"/>
            <a:ext cx="93895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2C3E50"/>
                </a:solidFill>
              </a:rPr>
              <a:t>(HTML, CSS, JavaScript)</a:t>
            </a:r>
            <a:endParaRPr lang="en-US" sz="621" dirty="0"/>
          </a:p>
        </p:txBody>
      </p:sp>
      <p:sp>
        <p:nvSpPr>
          <p:cNvPr id="17" name="Shape 14"/>
          <p:cNvSpPr/>
          <p:nvPr/>
        </p:nvSpPr>
        <p:spPr>
          <a:xfrm>
            <a:off x="2404458" y="1538027"/>
            <a:ext cx="2506870" cy="270011"/>
          </a:xfrm>
          <a:prstGeom prst="rect">
            <a:avLst/>
          </a:prstGeom>
          <a:solidFill>
            <a:srgbClr val="FFF3E0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473719" y="1613036"/>
            <a:ext cx="20421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2C3E50"/>
                </a:solidFill>
              </a:rPr>
              <a:t>Data</a:t>
            </a:r>
            <a:endParaRPr lang="en-US" sz="584" dirty="0"/>
          </a:p>
        </p:txBody>
      </p:sp>
      <p:sp>
        <p:nvSpPr>
          <p:cNvPr id="19" name="Text 16"/>
          <p:cNvSpPr/>
          <p:nvPr/>
        </p:nvSpPr>
        <p:spPr>
          <a:xfrm>
            <a:off x="2677930" y="1613036"/>
            <a:ext cx="50218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2C3E50"/>
                </a:solidFill>
              </a:rPr>
              <a:t>(JSON, XML)</a:t>
            </a:r>
            <a:endParaRPr lang="en-US" sz="621" dirty="0"/>
          </a:p>
        </p:txBody>
      </p:sp>
      <p:sp>
        <p:nvSpPr>
          <p:cNvPr id="20" name="Shape 17"/>
          <p:cNvSpPr/>
          <p:nvPr/>
        </p:nvSpPr>
        <p:spPr>
          <a:xfrm>
            <a:off x="360759" y="1808038"/>
            <a:ext cx="4550569" cy="270011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21" name="Text 18"/>
          <p:cNvSpPr/>
          <p:nvPr/>
        </p:nvSpPr>
        <p:spPr>
          <a:xfrm>
            <a:off x="435769" y="1884834"/>
            <a:ext cx="24467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FF6B35"/>
                </a:solidFill>
              </a:rPr>
              <a:t>Kaam</a:t>
            </a:r>
            <a:endParaRPr lang="en-US" sz="584" dirty="0"/>
          </a:p>
        </p:txBody>
      </p:sp>
      <p:sp>
        <p:nvSpPr>
          <p:cNvPr id="22" name="Shape 19"/>
          <p:cNvSpPr/>
          <p:nvPr/>
        </p:nvSpPr>
        <p:spPr>
          <a:xfrm>
            <a:off x="929636" y="1808038"/>
            <a:ext cx="1472645" cy="270011"/>
          </a:xfrm>
          <a:prstGeom prst="rect">
            <a:avLst/>
          </a:prstGeom>
          <a:solidFill>
            <a:srgbClr val="E8F5E9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29636" y="1808038"/>
            <a:ext cx="1472645" cy="270011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2C3E50"/>
                </a:solidFill>
              </a:rPr>
              <a:t>User Interface (UI) banana.</a:t>
            </a:r>
            <a:endParaRPr lang="en-US" sz="621" dirty="0"/>
          </a:p>
        </p:txBody>
      </p:sp>
      <p:sp>
        <p:nvSpPr>
          <p:cNvPr id="24" name="Shape 21"/>
          <p:cNvSpPr/>
          <p:nvPr/>
        </p:nvSpPr>
        <p:spPr>
          <a:xfrm>
            <a:off x="2402281" y="1808038"/>
            <a:ext cx="2509047" cy="270011"/>
          </a:xfrm>
          <a:prstGeom prst="rect">
            <a:avLst/>
          </a:prstGeom>
          <a:solidFill>
            <a:srgbClr val="FFF3E0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402281" y="1808038"/>
            <a:ext cx="2509047" cy="270011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2C3E50"/>
                </a:solidFill>
              </a:rPr>
              <a:t>Mobile Apps ya Single Page Apps (SPA) ko data dena.</a:t>
            </a:r>
            <a:endParaRPr lang="en-US" sz="621" dirty="0"/>
          </a:p>
        </p:txBody>
      </p:sp>
      <p:sp>
        <p:nvSpPr>
          <p:cNvPr id="26" name="Shape 23"/>
          <p:cNvSpPr/>
          <p:nvPr/>
        </p:nvSpPr>
        <p:spPr>
          <a:xfrm>
            <a:off x="360759" y="2078050"/>
            <a:ext cx="4550569" cy="27001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4"/>
          <p:cNvSpPr/>
          <p:nvPr/>
        </p:nvSpPr>
        <p:spPr>
          <a:xfrm>
            <a:off x="435769" y="2154845"/>
            <a:ext cx="36461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FF6B35"/>
                </a:solidFill>
              </a:rPr>
              <a:t>Example</a:t>
            </a:r>
            <a:endParaRPr lang="en-US" sz="584" dirty="0"/>
          </a:p>
        </p:txBody>
      </p:sp>
      <p:sp>
        <p:nvSpPr>
          <p:cNvPr id="28" name="Shape 25"/>
          <p:cNvSpPr/>
          <p:nvPr/>
        </p:nvSpPr>
        <p:spPr>
          <a:xfrm>
            <a:off x="930613" y="2078050"/>
            <a:ext cx="1475212" cy="270011"/>
          </a:xfrm>
          <a:prstGeom prst="rect">
            <a:avLst/>
          </a:prstGeom>
          <a:solidFill>
            <a:srgbClr val="E8F5E9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005622" y="2117341"/>
            <a:ext cx="856273" cy="192881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30" name="Shape 27"/>
          <p:cNvSpPr/>
          <p:nvPr/>
        </p:nvSpPr>
        <p:spPr>
          <a:xfrm>
            <a:off x="1005622" y="2117341"/>
            <a:ext cx="14288" cy="192881"/>
          </a:xfrm>
          <a:prstGeom prst="rect">
            <a:avLst/>
          </a:prstGeom>
          <a:solidFill>
            <a:srgbClr val="138808"/>
          </a:solidFill>
          <a:ln/>
        </p:spPr>
      </p:sp>
      <p:sp>
        <p:nvSpPr>
          <p:cNvPr id="31" name="Text 28"/>
          <p:cNvSpPr/>
          <p:nvPr/>
        </p:nvSpPr>
        <p:spPr>
          <a:xfrm>
            <a:off x="1005622" y="2117341"/>
            <a:ext cx="856273" cy="192881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2C3E50"/>
                </a:solidFill>
              </a:rPr>
              <a:t>return View(model);</a:t>
            </a:r>
            <a:endParaRPr lang="en-US" sz="568" dirty="0"/>
          </a:p>
        </p:txBody>
      </p:sp>
      <p:sp>
        <p:nvSpPr>
          <p:cNvPr id="32" name="Shape 29"/>
          <p:cNvSpPr/>
          <p:nvPr/>
        </p:nvSpPr>
        <p:spPr>
          <a:xfrm>
            <a:off x="2405825" y="2078050"/>
            <a:ext cx="2505503" cy="270011"/>
          </a:xfrm>
          <a:prstGeom prst="rect">
            <a:avLst/>
          </a:prstGeom>
          <a:solidFill>
            <a:srgbClr val="FFF3E0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2478853" y="2117341"/>
            <a:ext cx="718589" cy="192881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34" name="Shape 31"/>
          <p:cNvSpPr/>
          <p:nvPr/>
        </p:nvSpPr>
        <p:spPr>
          <a:xfrm>
            <a:off x="2478853" y="2117341"/>
            <a:ext cx="14288" cy="192881"/>
          </a:xfrm>
          <a:prstGeom prst="rect">
            <a:avLst/>
          </a:prstGeom>
          <a:solidFill>
            <a:srgbClr val="138808"/>
          </a:solidFill>
          <a:ln/>
        </p:spPr>
      </p:sp>
      <p:sp>
        <p:nvSpPr>
          <p:cNvPr id="35" name="Text 32"/>
          <p:cNvSpPr/>
          <p:nvPr/>
        </p:nvSpPr>
        <p:spPr>
          <a:xfrm>
            <a:off x="2478853" y="2117341"/>
            <a:ext cx="718589" cy="192881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2C3E50"/>
                </a:solidFill>
              </a:rPr>
              <a:t>return Ok(data);</a:t>
            </a:r>
            <a:endParaRPr lang="en-US" sz="568" dirty="0"/>
          </a:p>
        </p:txBody>
      </p:sp>
      <p:sp>
        <p:nvSpPr>
          <p:cNvPr id="36" name="Shape 33"/>
          <p:cNvSpPr/>
          <p:nvPr/>
        </p:nvSpPr>
        <p:spPr>
          <a:xfrm>
            <a:off x="357188" y="2544514"/>
            <a:ext cx="4557713" cy="292894"/>
          </a:xfrm>
          <a:prstGeom prst="rect">
            <a:avLst/>
          </a:prstGeom>
          <a:solidFill>
            <a:srgbClr val="FFF9E6"/>
          </a:solidFill>
          <a:ln/>
        </p:spPr>
      </p:sp>
      <p:sp>
        <p:nvSpPr>
          <p:cNvPr id="37" name="Shape 34"/>
          <p:cNvSpPr/>
          <p:nvPr/>
        </p:nvSpPr>
        <p:spPr>
          <a:xfrm>
            <a:off x="357188" y="2544514"/>
            <a:ext cx="28575" cy="292894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8" name="Text 35"/>
          <p:cNvSpPr/>
          <p:nvPr/>
        </p:nvSpPr>
        <p:spPr>
          <a:xfrm>
            <a:off x="357188" y="2544514"/>
            <a:ext cx="4557713" cy="292894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FF6B35"/>
                </a:solidFill>
              </a:rPr>
              <a:t>🔗 Routing: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 Web API mein 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[ApiController]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 aur 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[Route]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 attributes use hote hain.</a:t>
            </a:r>
            <a:endParaRPr lang="en-US" sz="634" dirty="0"/>
          </a:p>
        </p:txBody>
      </p:sp>
      <p:pic>
        <p:nvPicPr>
          <p:cNvPr id="3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9213" y="1304544"/>
            <a:ext cx="3729038" cy="28630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7188" y="328613"/>
            <a:ext cx="8429625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6B35"/>
                </a:solidFill>
              </a:rPr>
              <a:t>Controller se View Tak Data Kaise Bhejte Hain?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357188" y="674359"/>
            <a:ext cx="84296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i="1" dirty="0">
                <a:solidFill>
                  <a:srgbClr val="138808"/>
                </a:solidFill>
              </a:rPr>
              <a:t>Teen main tareeke hain data ko Controller se View tak le jaane ke.</a:t>
            </a:r>
            <a:endParaRPr lang="en-US" sz="784" dirty="0"/>
          </a:p>
        </p:txBody>
      </p:sp>
      <p:sp>
        <p:nvSpPr>
          <p:cNvPr id="5" name="Shape 2"/>
          <p:cNvSpPr/>
          <p:nvPr/>
        </p:nvSpPr>
        <p:spPr>
          <a:xfrm>
            <a:off x="364331" y="1067265"/>
            <a:ext cx="8415338" cy="36433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364331" y="1067265"/>
            <a:ext cx="2103834" cy="364331"/>
          </a:xfrm>
          <a:prstGeom prst="rect">
            <a:avLst/>
          </a:prstGeom>
          <a:solidFill>
            <a:srgbClr val="FF6B35"/>
          </a:solidFill>
          <a:ln w="18288">
            <a:solidFill>
              <a:srgbClr val="13880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4331" y="1067265"/>
            <a:ext cx="2103834" cy="364331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Method</a:t>
            </a:r>
            <a:endParaRPr lang="en-US" sz="683" dirty="0"/>
          </a:p>
        </p:txBody>
      </p:sp>
      <p:sp>
        <p:nvSpPr>
          <p:cNvPr id="8" name="Shape 5"/>
          <p:cNvSpPr/>
          <p:nvPr/>
        </p:nvSpPr>
        <p:spPr>
          <a:xfrm>
            <a:off x="2465487" y="1067265"/>
            <a:ext cx="2946602" cy="364331"/>
          </a:xfrm>
          <a:prstGeom prst="rect">
            <a:avLst/>
          </a:prstGeom>
          <a:solidFill>
            <a:srgbClr val="FF6B35"/>
          </a:solidFill>
          <a:ln w="18288">
            <a:solidFill>
              <a:srgbClr val="13880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465487" y="1067265"/>
            <a:ext cx="2946602" cy="364331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Kaam (Hinglish)</a:t>
            </a:r>
            <a:endParaRPr lang="en-US" sz="683" dirty="0"/>
          </a:p>
        </p:txBody>
      </p:sp>
      <p:sp>
        <p:nvSpPr>
          <p:cNvPr id="10" name="Shape 7"/>
          <p:cNvSpPr/>
          <p:nvPr/>
        </p:nvSpPr>
        <p:spPr>
          <a:xfrm>
            <a:off x="5412088" y="1067265"/>
            <a:ext cx="3367580" cy="364331"/>
          </a:xfrm>
          <a:prstGeom prst="rect">
            <a:avLst/>
          </a:prstGeom>
          <a:solidFill>
            <a:srgbClr val="FF6B35"/>
          </a:solidFill>
          <a:ln w="18288">
            <a:solidFill>
              <a:srgbClr val="13880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12088" y="1067265"/>
            <a:ext cx="3367580" cy="364331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Life Cycle</a:t>
            </a:r>
            <a:endParaRPr lang="en-US" sz="683" dirty="0"/>
          </a:p>
        </p:txBody>
      </p:sp>
      <p:sp>
        <p:nvSpPr>
          <p:cNvPr id="12" name="Shape 9"/>
          <p:cNvSpPr/>
          <p:nvPr/>
        </p:nvSpPr>
        <p:spPr>
          <a:xfrm>
            <a:off x="360759" y="1413737"/>
            <a:ext cx="8422481" cy="53578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464344" y="1517321"/>
            <a:ext cx="189845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6B35"/>
                </a:solidFill>
              </a:rPr>
              <a:t>ViewBag</a:t>
            </a:r>
            <a:endParaRPr lang="en-US" sz="683" dirty="0"/>
          </a:p>
        </p:txBody>
      </p:sp>
      <p:sp>
        <p:nvSpPr>
          <p:cNvPr id="14" name="Text 11"/>
          <p:cNvSpPr/>
          <p:nvPr/>
        </p:nvSpPr>
        <p:spPr>
          <a:xfrm>
            <a:off x="464344" y="1710203"/>
            <a:ext cx="67193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Dynamic object</a:t>
            </a:r>
            <a:endParaRPr lang="en-US" sz="674" dirty="0"/>
          </a:p>
        </p:txBody>
      </p:sp>
      <p:sp>
        <p:nvSpPr>
          <p:cNvPr id="15" name="Text 12"/>
          <p:cNvSpPr/>
          <p:nvPr/>
        </p:nvSpPr>
        <p:spPr>
          <a:xfrm>
            <a:off x="2466380" y="1413737"/>
            <a:ext cx="2947857" cy="535781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Simple data pass karna. Ek request ke liye.</a:t>
            </a:r>
            <a:endParaRPr lang="en-US" sz="727" dirty="0"/>
          </a:p>
        </p:txBody>
      </p:sp>
      <p:sp>
        <p:nvSpPr>
          <p:cNvPr id="16" name="Text 13"/>
          <p:cNvSpPr/>
          <p:nvPr/>
        </p:nvSpPr>
        <p:spPr>
          <a:xfrm>
            <a:off x="5517821" y="1538753"/>
            <a:ext cx="107524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38808"/>
                </a:solidFill>
              </a:rPr>
              <a:t>Sirf ek request ke liye.</a:t>
            </a:r>
            <a:endParaRPr lang="en-US" sz="683" dirty="0"/>
          </a:p>
        </p:txBody>
      </p:sp>
      <p:sp>
        <p:nvSpPr>
          <p:cNvPr id="17" name="Text 14"/>
          <p:cNvSpPr/>
          <p:nvPr/>
        </p:nvSpPr>
        <p:spPr>
          <a:xfrm>
            <a:off x="5517821" y="1538753"/>
            <a:ext cx="279457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Jab response bhej diya, toh ViewBag khatam ho gaya.</a:t>
            </a:r>
            <a:endParaRPr lang="en-US" sz="727" dirty="0"/>
          </a:p>
        </p:txBody>
      </p:sp>
      <p:sp>
        <p:nvSpPr>
          <p:cNvPr id="18" name="Shape 15"/>
          <p:cNvSpPr/>
          <p:nvPr/>
        </p:nvSpPr>
        <p:spPr>
          <a:xfrm>
            <a:off x="360759" y="1949518"/>
            <a:ext cx="8422481" cy="535781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19" name="Text 16"/>
          <p:cNvSpPr/>
          <p:nvPr/>
        </p:nvSpPr>
        <p:spPr>
          <a:xfrm>
            <a:off x="464344" y="2053103"/>
            <a:ext cx="189845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6B35"/>
                </a:solidFill>
              </a:rPr>
              <a:t>TempData</a:t>
            </a:r>
            <a:endParaRPr lang="en-US" sz="683" dirty="0"/>
          </a:p>
        </p:txBody>
      </p:sp>
      <p:sp>
        <p:nvSpPr>
          <p:cNvPr id="20" name="Text 17"/>
          <p:cNvSpPr/>
          <p:nvPr/>
        </p:nvSpPr>
        <p:spPr>
          <a:xfrm>
            <a:off x="464344" y="2245984"/>
            <a:ext cx="73831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Dictionary-based</a:t>
            </a:r>
            <a:endParaRPr lang="en-US" sz="674" dirty="0"/>
          </a:p>
        </p:txBody>
      </p:sp>
      <p:sp>
        <p:nvSpPr>
          <p:cNvPr id="21" name="Text 18"/>
          <p:cNvSpPr/>
          <p:nvPr/>
        </p:nvSpPr>
        <p:spPr>
          <a:xfrm>
            <a:off x="2466380" y="1949518"/>
            <a:ext cx="2947857" cy="535781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Data ko redirect ke baad bhi use karna. One-time read.</a:t>
            </a:r>
            <a:endParaRPr lang="en-US" sz="727" dirty="0"/>
          </a:p>
        </p:txBody>
      </p:sp>
      <p:sp>
        <p:nvSpPr>
          <p:cNvPr id="22" name="Text 19"/>
          <p:cNvSpPr/>
          <p:nvPr/>
        </p:nvSpPr>
        <p:spPr>
          <a:xfrm>
            <a:off x="5517821" y="2074534"/>
            <a:ext cx="168852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38808"/>
                </a:solidFill>
              </a:rPr>
              <a:t>Next request tak survive karta hai.</a:t>
            </a:r>
            <a:endParaRPr lang="en-US" sz="683" dirty="0"/>
          </a:p>
        </p:txBody>
      </p:sp>
      <p:sp>
        <p:nvSpPr>
          <p:cNvPr id="23" name="Text 20"/>
          <p:cNvSpPr/>
          <p:nvPr/>
        </p:nvSpPr>
        <p:spPr>
          <a:xfrm>
            <a:off x="5517821" y="2074534"/>
            <a:ext cx="291417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Ek baar read ho gaya, toh delete ho jaata hai.</a:t>
            </a:r>
            <a:endParaRPr lang="en-US" sz="727" dirty="0"/>
          </a:p>
        </p:txBody>
      </p:sp>
      <p:sp>
        <p:nvSpPr>
          <p:cNvPr id="24" name="Shape 21"/>
          <p:cNvSpPr/>
          <p:nvPr/>
        </p:nvSpPr>
        <p:spPr>
          <a:xfrm>
            <a:off x="360759" y="2485299"/>
            <a:ext cx="8422481" cy="53578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2"/>
          <p:cNvSpPr/>
          <p:nvPr/>
        </p:nvSpPr>
        <p:spPr>
          <a:xfrm>
            <a:off x="464344" y="2588884"/>
            <a:ext cx="189845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6B35"/>
                </a:solidFill>
              </a:rPr>
              <a:t>Partial View</a:t>
            </a:r>
            <a:endParaRPr lang="en-US" sz="683" dirty="0"/>
          </a:p>
        </p:txBody>
      </p:sp>
      <p:sp>
        <p:nvSpPr>
          <p:cNvPr id="26" name="Text 23"/>
          <p:cNvSpPr/>
          <p:nvPr/>
        </p:nvSpPr>
        <p:spPr>
          <a:xfrm>
            <a:off x="464344" y="2781765"/>
            <a:ext cx="52110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Reusable UI</a:t>
            </a:r>
            <a:endParaRPr lang="en-US" sz="674" dirty="0"/>
          </a:p>
        </p:txBody>
      </p:sp>
      <p:sp>
        <p:nvSpPr>
          <p:cNvPr id="27" name="Text 24"/>
          <p:cNvSpPr/>
          <p:nvPr/>
        </p:nvSpPr>
        <p:spPr>
          <a:xfrm>
            <a:off x="2466380" y="2485299"/>
            <a:ext cx="2947857" cy="535781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Reusable UI ka tukda. Header, Footer, Navigation bar.</a:t>
            </a:r>
            <a:endParaRPr lang="en-US" sz="727" dirty="0"/>
          </a:p>
        </p:txBody>
      </p:sp>
      <p:sp>
        <p:nvSpPr>
          <p:cNvPr id="28" name="Text 25"/>
          <p:cNvSpPr/>
          <p:nvPr/>
        </p:nvSpPr>
        <p:spPr>
          <a:xfrm>
            <a:off x="5517821" y="2610315"/>
            <a:ext cx="16530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38808"/>
                </a:solidFill>
              </a:rPr>
              <a:t>Main View ke andar load hota hai.</a:t>
            </a:r>
            <a:endParaRPr lang="en-US" sz="683" dirty="0"/>
          </a:p>
        </p:txBody>
      </p:sp>
      <p:sp>
        <p:nvSpPr>
          <p:cNvPr id="29" name="Text 26"/>
          <p:cNvSpPr/>
          <p:nvPr/>
        </p:nvSpPr>
        <p:spPr>
          <a:xfrm>
            <a:off x="5517821" y="2610315"/>
            <a:ext cx="297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Same request mein execute hota hai.</a:t>
            </a:r>
            <a:endParaRPr lang="en-US" sz="727" dirty="0"/>
          </a:p>
        </p:txBody>
      </p:sp>
      <p:sp>
        <p:nvSpPr>
          <p:cNvPr id="30" name="Shape 27"/>
          <p:cNvSpPr/>
          <p:nvPr/>
        </p:nvSpPr>
        <p:spPr>
          <a:xfrm>
            <a:off x="357188" y="3346121"/>
            <a:ext cx="8429625" cy="546497"/>
          </a:xfrm>
          <a:prstGeom prst="rect">
            <a:avLst/>
          </a:prstGeom>
          <a:solidFill>
            <a:srgbClr val="FFF9E6"/>
          </a:solidFill>
          <a:ln/>
        </p:spPr>
      </p:sp>
      <p:sp>
        <p:nvSpPr>
          <p:cNvPr id="31" name="Shape 28"/>
          <p:cNvSpPr/>
          <p:nvPr/>
        </p:nvSpPr>
        <p:spPr>
          <a:xfrm>
            <a:off x="357188" y="3346121"/>
            <a:ext cx="28575" cy="546497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2" name="Text 29"/>
          <p:cNvSpPr/>
          <p:nvPr/>
        </p:nvSpPr>
        <p:spPr>
          <a:xfrm>
            <a:off x="457200" y="3453278"/>
            <a:ext cx="100514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6B35"/>
                </a:solidFill>
              </a:rPr>
              <a:t>💡 Best Practice Tip:</a:t>
            </a:r>
            <a:endParaRPr lang="en-US" sz="683" dirty="0"/>
          </a:p>
        </p:txBody>
      </p:sp>
      <p:sp>
        <p:nvSpPr>
          <p:cNvPr id="33" name="Text 30"/>
          <p:cNvSpPr/>
          <p:nvPr/>
        </p:nvSpPr>
        <p:spPr>
          <a:xfrm>
            <a:off x="457200" y="3653303"/>
            <a:ext cx="822960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ViewBag aur TempData se zyada better </a:t>
            </a:r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FF6B35"/>
                </a:solidFill>
              </a:rPr>
              <a:t>ViewModel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 use karna hota hai. ViewModel ek strongly-typed class hoti hai jo data ko safely pass karta hai aur code ko maintainable banata hai.</a:t>
            </a:r>
            <a:endParaRPr lang="en-US" sz="674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7188" y="328613"/>
            <a:ext cx="4557713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6B35"/>
                </a:solidFill>
              </a:rPr>
              <a:t>Entity Framework (EF): Code se Database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357188" y="948668"/>
            <a:ext cx="45577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i="1" dirty="0">
                <a:solidFill>
                  <a:srgbClr val="138808"/>
                </a:solidFill>
              </a:rPr>
              <a:t>EF humare C# classes ko database tables mein convert karta hai.</a:t>
            </a:r>
            <a:endParaRPr lang="en-US" sz="784" dirty="0"/>
          </a:p>
        </p:txBody>
      </p:sp>
      <p:sp>
        <p:nvSpPr>
          <p:cNvPr id="5" name="Shape 2"/>
          <p:cNvSpPr/>
          <p:nvPr/>
        </p:nvSpPr>
        <p:spPr>
          <a:xfrm>
            <a:off x="357188" y="1298711"/>
            <a:ext cx="631608" cy="18573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Text 3"/>
          <p:cNvSpPr/>
          <p:nvPr/>
        </p:nvSpPr>
        <p:spPr>
          <a:xfrm>
            <a:off x="357188" y="1298711"/>
            <a:ext cx="631608" cy="185738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CODE FIRST</a:t>
            </a:r>
            <a:endParaRPr lang="en-US" sz="584" dirty="0"/>
          </a:p>
        </p:txBody>
      </p:sp>
      <p:sp>
        <p:nvSpPr>
          <p:cNvPr id="7" name="Text 4"/>
          <p:cNvSpPr/>
          <p:nvPr/>
        </p:nvSpPr>
        <p:spPr>
          <a:xfrm>
            <a:off x="464344" y="1527311"/>
            <a:ext cx="4450556" cy="300038"/>
          </a:xfrm>
          <a:prstGeom prst="rect">
            <a:avLst/>
          </a:prstGeom>
          <a:noFill/>
          <a:ln/>
        </p:spPr>
        <p:txBody>
          <a:bodyPr wrap="square" lIns="102108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Sabse popular approach. Hum C# mein classes (Models) likhte hain, aur EF unse database bana deta hai.</a:t>
            </a:r>
            <a:endParaRPr lang="en-US" sz="727" dirty="0"/>
          </a:p>
        </p:txBody>
      </p:sp>
      <p:sp>
        <p:nvSpPr>
          <p:cNvPr id="8" name="Shape 5"/>
          <p:cNvSpPr/>
          <p:nvPr/>
        </p:nvSpPr>
        <p:spPr>
          <a:xfrm>
            <a:off x="357188" y="1955936"/>
            <a:ext cx="659206" cy="18573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9" name="Text 6"/>
          <p:cNvSpPr/>
          <p:nvPr/>
        </p:nvSpPr>
        <p:spPr>
          <a:xfrm>
            <a:off x="357188" y="1955936"/>
            <a:ext cx="659206" cy="185738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DBCONTEXT</a:t>
            </a:r>
            <a:endParaRPr lang="en-US" sz="584" dirty="0"/>
          </a:p>
        </p:txBody>
      </p:sp>
      <p:sp>
        <p:nvSpPr>
          <p:cNvPr id="10" name="Text 7"/>
          <p:cNvSpPr/>
          <p:nvPr/>
        </p:nvSpPr>
        <p:spPr>
          <a:xfrm>
            <a:off x="464344" y="2184536"/>
            <a:ext cx="4450556" cy="150019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Yeh class database ka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6B35"/>
                </a:solidFill>
              </a:rPr>
              <a:t>gateway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 hai. Saare operations iske through hote hain.</a:t>
            </a:r>
            <a:endParaRPr lang="en-US" sz="727" dirty="0"/>
          </a:p>
        </p:txBody>
      </p:sp>
      <p:sp>
        <p:nvSpPr>
          <p:cNvPr id="11" name="Shape 8"/>
          <p:cNvSpPr/>
          <p:nvPr/>
        </p:nvSpPr>
        <p:spPr>
          <a:xfrm>
            <a:off x="357188" y="2463143"/>
            <a:ext cx="408812" cy="18573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2" name="Text 9"/>
          <p:cNvSpPr/>
          <p:nvPr/>
        </p:nvSpPr>
        <p:spPr>
          <a:xfrm>
            <a:off x="357188" y="2463143"/>
            <a:ext cx="408812" cy="185738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DBSET</a:t>
            </a:r>
            <a:endParaRPr lang="en-US" sz="584" dirty="0"/>
          </a:p>
        </p:txBody>
      </p:sp>
      <p:sp>
        <p:nvSpPr>
          <p:cNvPr id="13" name="Text 10"/>
          <p:cNvSpPr/>
          <p:nvPr/>
        </p:nvSpPr>
        <p:spPr>
          <a:xfrm>
            <a:off x="464344" y="2691743"/>
            <a:ext cx="4450556" cy="150019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Yeh C# class database ke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6B35"/>
                </a:solidFill>
              </a:rPr>
              <a:t>table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 ko represent karti hai.</a:t>
            </a:r>
            <a:endParaRPr lang="en-US" sz="727" dirty="0"/>
          </a:p>
        </p:txBody>
      </p:sp>
      <p:sp>
        <p:nvSpPr>
          <p:cNvPr id="14" name="Shape 11"/>
          <p:cNvSpPr/>
          <p:nvPr/>
        </p:nvSpPr>
        <p:spPr>
          <a:xfrm>
            <a:off x="464344" y="2898911"/>
            <a:ext cx="4450556" cy="291443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5" name="Shape 12"/>
          <p:cNvSpPr/>
          <p:nvPr/>
        </p:nvSpPr>
        <p:spPr>
          <a:xfrm>
            <a:off x="464344" y="2898911"/>
            <a:ext cx="28575" cy="291443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6" name="Text 13"/>
          <p:cNvSpPr/>
          <p:nvPr/>
        </p:nvSpPr>
        <p:spPr>
          <a:xfrm>
            <a:off x="464344" y="2898911"/>
            <a:ext cx="4450556" cy="291443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2C3E50"/>
                </a:solidFill>
              </a:rPr>
              <a:t>public DbSet&lt;Employee&gt; Employees { get; set; }</a:t>
            </a:r>
            <a:endParaRPr lang="en-US" sz="621" dirty="0"/>
          </a:p>
        </p:txBody>
      </p:sp>
      <p:sp>
        <p:nvSpPr>
          <p:cNvPr id="17" name="Text 14"/>
          <p:cNvSpPr/>
          <p:nvPr/>
        </p:nvSpPr>
        <p:spPr>
          <a:xfrm>
            <a:off x="571500" y="3254648"/>
            <a:ext cx="334561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i="1" dirty="0">
                <a:solidFill>
                  <a:srgbClr val="2C3E50"/>
                </a:solidFill>
              </a:rPr>
              <a:t>Meaning: Employee class ke liye database mein ek Employees table banega.</a:t>
            </a:r>
            <a:endParaRPr lang="en-US" sz="727" dirty="0"/>
          </a:p>
        </p:txBody>
      </p:sp>
      <p:sp>
        <p:nvSpPr>
          <p:cNvPr id="18" name="Text 15"/>
          <p:cNvSpPr/>
          <p:nvPr/>
        </p:nvSpPr>
        <p:spPr>
          <a:xfrm>
            <a:off x="357188" y="3790429"/>
            <a:ext cx="4557713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2C3E50"/>
                </a:solidFill>
              </a:rPr>
              <a:t>🔄 Flow: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 C# Models → DbContext → EF → Database Tables</a:t>
            </a:r>
            <a:endParaRPr lang="en-US" sz="683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9213" y="145889"/>
            <a:ext cx="3729038" cy="51803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7188" y="328613"/>
            <a:ext cx="4071938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6B35"/>
                </a:solidFill>
              </a:rPr>
              <a:t>Tracking vs No-Tracking:</a:t>
            </a:r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6B35"/>
                </a:solidFill>
              </a:rPr>
              <a:t>
</a:t>
            </a:r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6B35"/>
                </a:solidFill>
              </a:rPr>
              <a:t>Performance aur Updates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357188" y="948668"/>
            <a:ext cx="407193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i="1" dirty="0">
                <a:solidFill>
                  <a:srgbClr val="138808"/>
                </a:solidFill>
              </a:rPr>
              <a:t>EF ko batana ki object ko track karna hai ya nahi.</a:t>
            </a:r>
            <a:endParaRPr lang="en-US" sz="784" dirty="0"/>
          </a:p>
        </p:txBody>
      </p:sp>
      <p:sp>
        <p:nvSpPr>
          <p:cNvPr id="5" name="Shape 2"/>
          <p:cNvSpPr/>
          <p:nvPr/>
        </p:nvSpPr>
        <p:spPr>
          <a:xfrm>
            <a:off x="357188" y="1441586"/>
            <a:ext cx="4071938" cy="33575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Shape 3"/>
          <p:cNvSpPr/>
          <p:nvPr/>
        </p:nvSpPr>
        <p:spPr>
          <a:xfrm>
            <a:off x="357188" y="1441586"/>
            <a:ext cx="28575" cy="335756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7" name="Text 4"/>
          <p:cNvSpPr/>
          <p:nvPr/>
        </p:nvSpPr>
        <p:spPr>
          <a:xfrm>
            <a:off x="357188" y="1441586"/>
            <a:ext cx="4071938" cy="335756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✓ Tracking</a:t>
            </a: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485775" y="1884499"/>
            <a:ext cx="39433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2C3E50"/>
                </a:solidFill>
              </a:rPr>
              <a:t>Kya Hota Hai?</a:t>
            </a:r>
            <a:endParaRPr lang="en-US" sz="683" dirty="0"/>
          </a:p>
        </p:txBody>
      </p:sp>
      <p:sp>
        <p:nvSpPr>
          <p:cNvPr id="9" name="Text 6"/>
          <p:cNvSpPr/>
          <p:nvPr/>
        </p:nvSpPr>
        <p:spPr>
          <a:xfrm>
            <a:off x="485775" y="2070236"/>
            <a:ext cx="394335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EF object ko </a:t>
            </a:r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2C3E50"/>
                </a:solidFill>
              </a:rPr>
              <a:t>monitor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 karta hai.</a:t>
            </a:r>
            <a:endParaRPr lang="en-US" sz="674" dirty="0"/>
          </a:p>
        </p:txBody>
      </p:sp>
      <p:sp>
        <p:nvSpPr>
          <p:cNvPr id="10" name="Text 7"/>
          <p:cNvSpPr/>
          <p:nvPr/>
        </p:nvSpPr>
        <p:spPr>
          <a:xfrm>
            <a:off x="485775" y="2316696"/>
            <a:ext cx="39433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2C3E50"/>
                </a:solidFill>
              </a:rPr>
              <a:t>Update/Delete Ke Liye:</a:t>
            </a:r>
            <a:endParaRPr lang="en-US" sz="683" dirty="0"/>
          </a:p>
        </p:txBody>
      </p:sp>
      <p:sp>
        <p:nvSpPr>
          <p:cNvPr id="11" name="Text 8"/>
          <p:cNvSpPr/>
          <p:nvPr/>
        </p:nvSpPr>
        <p:spPr>
          <a:xfrm>
            <a:off x="485775" y="2502433"/>
            <a:ext cx="39433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Agar object mein change hua, toh 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SaveChanges()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 par DB mein update ho jayega.</a:t>
            </a:r>
            <a:endParaRPr lang="en-US" sz="674" dirty="0"/>
          </a:p>
        </p:txBody>
      </p:sp>
      <p:sp>
        <p:nvSpPr>
          <p:cNvPr id="12" name="Shape 9"/>
          <p:cNvSpPr/>
          <p:nvPr/>
        </p:nvSpPr>
        <p:spPr>
          <a:xfrm>
            <a:off x="357188" y="2759608"/>
            <a:ext cx="4071938" cy="339328"/>
          </a:xfrm>
          <a:prstGeom prst="rect">
            <a:avLst/>
          </a:prstGeom>
          <a:solidFill>
            <a:srgbClr val="FFF9E6"/>
          </a:solidFill>
          <a:ln w="18288">
            <a:solidFill>
              <a:srgbClr val="FFD7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57188" y="2759608"/>
            <a:ext cx="4071938" cy="33932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FF6B35"/>
                </a:solidFill>
              </a:rPr>
              <a:t>✓ Fayda: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 Data ko update aur delete karna aasan ho jaata hai.</a:t>
            </a:r>
            <a:endParaRPr lang="en-US" sz="634" dirty="0"/>
          </a:p>
        </p:txBody>
      </p:sp>
      <p:sp>
        <p:nvSpPr>
          <p:cNvPr id="14" name="Shape 11"/>
          <p:cNvSpPr/>
          <p:nvPr/>
        </p:nvSpPr>
        <p:spPr>
          <a:xfrm>
            <a:off x="357188" y="3434693"/>
            <a:ext cx="4071938" cy="335756"/>
          </a:xfrm>
          <a:prstGeom prst="rect">
            <a:avLst/>
          </a:prstGeom>
          <a:solidFill>
            <a:srgbClr val="138808"/>
          </a:solidFill>
          <a:ln/>
        </p:spPr>
      </p:sp>
      <p:sp>
        <p:nvSpPr>
          <p:cNvPr id="15" name="Shape 12"/>
          <p:cNvSpPr/>
          <p:nvPr/>
        </p:nvSpPr>
        <p:spPr>
          <a:xfrm>
            <a:off x="357188" y="3434693"/>
            <a:ext cx="28575" cy="335756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6" name="Text 13"/>
          <p:cNvSpPr/>
          <p:nvPr/>
        </p:nvSpPr>
        <p:spPr>
          <a:xfrm>
            <a:off x="357188" y="3434693"/>
            <a:ext cx="4071938" cy="335756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⚡ No-Tracking</a:t>
            </a:r>
            <a:endParaRPr lang="en-US" sz="885" dirty="0"/>
          </a:p>
        </p:txBody>
      </p:sp>
      <p:sp>
        <p:nvSpPr>
          <p:cNvPr id="17" name="Text 14"/>
          <p:cNvSpPr/>
          <p:nvPr/>
        </p:nvSpPr>
        <p:spPr>
          <a:xfrm>
            <a:off x="485775" y="3877605"/>
            <a:ext cx="39433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2C3E50"/>
                </a:solidFill>
              </a:rPr>
              <a:t>Kya Hota Hai?</a:t>
            </a:r>
            <a:endParaRPr lang="en-US" sz="683" dirty="0"/>
          </a:p>
        </p:txBody>
      </p:sp>
      <p:sp>
        <p:nvSpPr>
          <p:cNvPr id="18" name="Text 15"/>
          <p:cNvSpPr/>
          <p:nvPr/>
        </p:nvSpPr>
        <p:spPr>
          <a:xfrm>
            <a:off x="485775" y="4063343"/>
            <a:ext cx="394335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EF object ko </a:t>
            </a:r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2C3E50"/>
                </a:solidFill>
              </a:rPr>
              <a:t>monitor nahi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 karta.</a:t>
            </a:r>
            <a:endParaRPr lang="en-US" sz="674" dirty="0"/>
          </a:p>
        </p:txBody>
      </p:sp>
      <p:sp>
        <p:nvSpPr>
          <p:cNvPr id="19" name="Text 16"/>
          <p:cNvSpPr/>
          <p:nvPr/>
        </p:nvSpPr>
        <p:spPr>
          <a:xfrm>
            <a:off x="485775" y="4309802"/>
            <a:ext cx="39433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2C3E50"/>
                </a:solidFill>
              </a:rPr>
              <a:t>Speed:</a:t>
            </a:r>
            <a:endParaRPr lang="en-US" sz="683" dirty="0"/>
          </a:p>
        </p:txBody>
      </p:sp>
      <p:sp>
        <p:nvSpPr>
          <p:cNvPr id="20" name="Text 17"/>
          <p:cNvSpPr/>
          <p:nvPr/>
        </p:nvSpPr>
        <p:spPr>
          <a:xfrm>
            <a:off x="485775" y="4495540"/>
            <a:ext cx="394335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2C3E50"/>
                </a:solidFill>
              </a:rPr>
              <a:t>Bahut Fast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 hota hai, kyunki monitoring ka overhead nahi hota.</a:t>
            </a:r>
            <a:endParaRPr lang="en-US" sz="634" dirty="0"/>
          </a:p>
        </p:txBody>
      </p:sp>
      <p:sp>
        <p:nvSpPr>
          <p:cNvPr id="21" name="Shape 18"/>
          <p:cNvSpPr/>
          <p:nvPr/>
        </p:nvSpPr>
        <p:spPr>
          <a:xfrm>
            <a:off x="357188" y="4741999"/>
            <a:ext cx="4071938" cy="339328"/>
          </a:xfrm>
          <a:prstGeom prst="rect">
            <a:avLst/>
          </a:prstGeom>
          <a:solidFill>
            <a:srgbClr val="FFF9E6"/>
          </a:solidFill>
          <a:ln w="18288">
            <a:solidFill>
              <a:srgbClr val="FFD70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57188" y="4741999"/>
            <a:ext cx="4071938" cy="33932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FF6B35"/>
                </a:solidFill>
              </a:rPr>
              <a:t>✓ Fayda: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 Sirf data ko </a:t>
            </a:r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FF6B35"/>
                </a:solidFill>
              </a:rPr>
              <a:t>read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 karna ho (Read-only operations).</a:t>
            </a:r>
            <a:endParaRPr lang="en-US" sz="634" dirty="0"/>
          </a:p>
        </p:txBody>
      </p:sp>
      <p:sp>
        <p:nvSpPr>
          <p:cNvPr id="23" name="Text 20"/>
          <p:cNvSpPr/>
          <p:nvPr/>
        </p:nvSpPr>
        <p:spPr>
          <a:xfrm>
            <a:off x="4786313" y="328613"/>
            <a:ext cx="407193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6B35"/>
                </a:solidFill>
              </a:rPr>
              <a:t>📌 Code Example</a:t>
            </a:r>
            <a:endParaRPr lang="en-US" sz="784" dirty="0"/>
          </a:p>
        </p:txBody>
      </p:sp>
      <p:sp>
        <p:nvSpPr>
          <p:cNvPr id="24" name="Shape 21"/>
          <p:cNvSpPr/>
          <p:nvPr/>
        </p:nvSpPr>
        <p:spPr>
          <a:xfrm>
            <a:off x="4786313" y="607219"/>
            <a:ext cx="4071938" cy="531428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25" name="Shape 22"/>
          <p:cNvSpPr/>
          <p:nvPr/>
        </p:nvSpPr>
        <p:spPr>
          <a:xfrm>
            <a:off x="4786313" y="607219"/>
            <a:ext cx="28575" cy="531428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26" name="Text 23"/>
          <p:cNvSpPr/>
          <p:nvPr/>
        </p:nvSpPr>
        <p:spPr>
          <a:xfrm>
            <a:off x="4786313" y="607219"/>
            <a:ext cx="4071938" cy="531428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2C3E50"/>
                </a:solidFill>
              </a:rPr>
              <a:t>// Tracking (Default)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2C3E50"/>
                </a:solidFill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2C3E50"/>
                </a:solidFill>
              </a:rPr>
              <a:t> var employees = context.Employees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2C3E50"/>
                </a:solidFill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2C3E50"/>
                </a:solidFill>
              </a:rPr>
              <a:t> .ToList();</a:t>
            </a:r>
            <a:endParaRPr lang="en-US" sz="621" dirty="0"/>
          </a:p>
        </p:txBody>
      </p:sp>
      <p:sp>
        <p:nvSpPr>
          <p:cNvPr id="27" name="Text 24"/>
          <p:cNvSpPr/>
          <p:nvPr/>
        </p:nvSpPr>
        <p:spPr>
          <a:xfrm>
            <a:off x="4786313" y="1245803"/>
            <a:ext cx="4071938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2C3E50"/>
                </a:solidFill>
              </a:rPr>
              <a:t>Meaning: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 Sab employees ko track karega. Agar kisi ka salary change hua, toh SaveChanges() 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par update ho jayega.</a:t>
            </a:r>
            <a:endParaRPr lang="en-US" sz="634" dirty="0"/>
          </a:p>
        </p:txBody>
      </p:sp>
      <p:sp>
        <p:nvSpPr>
          <p:cNvPr id="28" name="Shape 25"/>
          <p:cNvSpPr/>
          <p:nvPr/>
        </p:nvSpPr>
        <p:spPr>
          <a:xfrm>
            <a:off x="4786313" y="1781584"/>
            <a:ext cx="4071938" cy="651421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29" name="Shape 26"/>
          <p:cNvSpPr/>
          <p:nvPr/>
        </p:nvSpPr>
        <p:spPr>
          <a:xfrm>
            <a:off x="4786313" y="1781584"/>
            <a:ext cx="28575" cy="651421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0" name="Text 27"/>
          <p:cNvSpPr/>
          <p:nvPr/>
        </p:nvSpPr>
        <p:spPr>
          <a:xfrm>
            <a:off x="4786313" y="1781584"/>
            <a:ext cx="4071938" cy="651421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2C3E50"/>
                </a:solidFill>
              </a:rPr>
              <a:t>// No-Tracking (Fast)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2C3E50"/>
                </a:solidFill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2C3E50"/>
                </a:solidFill>
              </a:rPr>
              <a:t> var employees = context.Employees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2C3E50"/>
                </a:solidFill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2C3E50"/>
                </a:solidFill>
              </a:rPr>
              <a:t> .AsNoTracking()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2C3E50"/>
                </a:solidFill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2C3E50"/>
                </a:solidFill>
              </a:rPr>
              <a:t> .ToList();</a:t>
            </a:r>
            <a:endParaRPr lang="en-US" sz="621" dirty="0"/>
          </a:p>
        </p:txBody>
      </p:sp>
      <p:sp>
        <p:nvSpPr>
          <p:cNvPr id="31" name="Text 28"/>
          <p:cNvSpPr/>
          <p:nvPr/>
        </p:nvSpPr>
        <p:spPr>
          <a:xfrm>
            <a:off x="4786313" y="2540161"/>
            <a:ext cx="407193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2C3E50"/>
                </a:solidFill>
              </a:rPr>
              <a:t>Meaning: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 Sirf data read karega, kisi ko track nahi karega. Bahut fast hai!</a:t>
            </a:r>
            <a:endParaRPr lang="en-US" sz="634" dirty="0"/>
          </a:p>
        </p:txBody>
      </p:sp>
      <p:sp>
        <p:nvSpPr>
          <p:cNvPr id="32" name="Shape 29"/>
          <p:cNvSpPr/>
          <p:nvPr/>
        </p:nvSpPr>
        <p:spPr>
          <a:xfrm>
            <a:off x="4786313" y="2822339"/>
            <a:ext cx="4071938" cy="321469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33" name="Shape 30"/>
          <p:cNvSpPr/>
          <p:nvPr/>
        </p:nvSpPr>
        <p:spPr>
          <a:xfrm>
            <a:off x="4786313" y="2822339"/>
            <a:ext cx="28575" cy="321469"/>
          </a:xfrm>
          <a:prstGeom prst="rect">
            <a:avLst/>
          </a:prstGeom>
          <a:solidFill>
            <a:srgbClr val="138808"/>
          </a:solidFill>
          <a:ln/>
        </p:spPr>
      </p:sp>
      <p:sp>
        <p:nvSpPr>
          <p:cNvPr id="34" name="Text 31"/>
          <p:cNvSpPr/>
          <p:nvPr/>
        </p:nvSpPr>
        <p:spPr>
          <a:xfrm>
            <a:off x="4786313" y="2822339"/>
            <a:ext cx="4071938" cy="321469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138808"/>
                </a:solidFill>
              </a:rPr>
              <a:t>💡 Tip: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 Jab sirf data display karna ho (List, Report), toh 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AsNoTracking()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 use karo.</a:t>
            </a:r>
            <a:endParaRPr lang="en-US" sz="634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7188" y="328613"/>
            <a:ext cx="8429625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6B35"/>
                </a:solidFill>
              </a:rPr>
              <a:t>LINQ: C# mein Data se Baat Karne ka Tareeka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357188" y="660071"/>
            <a:ext cx="84296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i="1" dirty="0">
                <a:solidFill>
                  <a:srgbClr val="138808"/>
                </a:solidFill>
              </a:rPr>
              <a:t>Language Integrated Query (LINQ) se hum C# code mein hi data filter kar sakte hain.</a:t>
            </a:r>
            <a:endParaRPr lang="en-US" sz="784" dirty="0"/>
          </a:p>
        </p:txBody>
      </p:sp>
      <p:sp>
        <p:nvSpPr>
          <p:cNvPr id="5" name="Text 2"/>
          <p:cNvSpPr/>
          <p:nvPr/>
        </p:nvSpPr>
        <p:spPr>
          <a:xfrm>
            <a:off x="492919" y="1010115"/>
            <a:ext cx="400764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6B35"/>
                </a:solidFill>
              </a:rPr>
              <a:t>Where</a:t>
            </a:r>
            <a:endParaRPr lang="en-US" sz="784" dirty="0"/>
          </a:p>
        </p:txBody>
      </p:sp>
      <p:sp>
        <p:nvSpPr>
          <p:cNvPr id="6" name="Text 3"/>
          <p:cNvSpPr/>
          <p:nvPr/>
        </p:nvSpPr>
        <p:spPr>
          <a:xfrm>
            <a:off x="492919" y="1238715"/>
            <a:ext cx="4007644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Data ko filter karna (condition ke basis par)</a:t>
            </a:r>
            <a:endParaRPr lang="en-US" sz="674" dirty="0"/>
          </a:p>
        </p:txBody>
      </p:sp>
      <p:sp>
        <p:nvSpPr>
          <p:cNvPr id="7" name="Text 4"/>
          <p:cNvSpPr/>
          <p:nvPr/>
        </p:nvSpPr>
        <p:spPr>
          <a:xfrm>
            <a:off x="492919" y="1425876"/>
            <a:ext cx="400764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138808"/>
                </a:solidFill>
              </a:rPr>
              <a:t>Example:</a:t>
            </a:r>
            <a:endParaRPr lang="en-US" sz="534" dirty="0"/>
          </a:p>
        </p:txBody>
      </p:sp>
      <p:sp>
        <p:nvSpPr>
          <p:cNvPr id="8" name="Shape 5"/>
          <p:cNvSpPr/>
          <p:nvPr/>
        </p:nvSpPr>
        <p:spPr>
          <a:xfrm>
            <a:off x="492919" y="1572323"/>
            <a:ext cx="4007644" cy="252878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9" name="Shape 6"/>
          <p:cNvSpPr/>
          <p:nvPr/>
        </p:nvSpPr>
        <p:spPr>
          <a:xfrm>
            <a:off x="492919" y="1572323"/>
            <a:ext cx="21431" cy="252878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0" name="Text 7"/>
          <p:cNvSpPr/>
          <p:nvPr/>
        </p:nvSpPr>
        <p:spPr>
          <a:xfrm>
            <a:off x="492919" y="1572323"/>
            <a:ext cx="4007644" cy="252878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2C3E50"/>
                </a:solidFill>
              </a:rPr>
              <a:t>employees.Where(e =&gt; e.Age &gt; 18)</a:t>
            </a:r>
            <a:endParaRPr lang="en-US" sz="568" dirty="0"/>
          </a:p>
        </p:txBody>
      </p:sp>
      <p:sp>
        <p:nvSpPr>
          <p:cNvPr id="11" name="Text 8"/>
          <p:cNvSpPr/>
          <p:nvPr/>
        </p:nvSpPr>
        <p:spPr>
          <a:xfrm>
            <a:off x="492919" y="1882350"/>
            <a:ext cx="400764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138808"/>
                </a:solidFill>
              </a:rPr>
              <a:t>✓ 18 se upar age wale employees</a:t>
            </a:r>
            <a:endParaRPr lang="en-US" sz="621" dirty="0"/>
          </a:p>
        </p:txBody>
      </p:sp>
      <p:sp>
        <p:nvSpPr>
          <p:cNvPr id="12" name="Text 9"/>
          <p:cNvSpPr/>
          <p:nvPr/>
        </p:nvSpPr>
        <p:spPr>
          <a:xfrm>
            <a:off x="4779169" y="1010115"/>
            <a:ext cx="400764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6B35"/>
                </a:solidFill>
              </a:rPr>
              <a:t>Select</a:t>
            </a:r>
            <a:endParaRPr lang="en-US" sz="784" dirty="0"/>
          </a:p>
        </p:txBody>
      </p:sp>
      <p:sp>
        <p:nvSpPr>
          <p:cNvPr id="13" name="Text 10"/>
          <p:cNvSpPr/>
          <p:nvPr/>
        </p:nvSpPr>
        <p:spPr>
          <a:xfrm>
            <a:off x="4779169" y="1238715"/>
            <a:ext cx="4007644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Sirf zaroori columns nikalna</a:t>
            </a:r>
            <a:endParaRPr lang="en-US" sz="674" dirty="0"/>
          </a:p>
        </p:txBody>
      </p:sp>
      <p:sp>
        <p:nvSpPr>
          <p:cNvPr id="14" name="Text 11"/>
          <p:cNvSpPr/>
          <p:nvPr/>
        </p:nvSpPr>
        <p:spPr>
          <a:xfrm>
            <a:off x="4779169" y="1425876"/>
            <a:ext cx="400764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138808"/>
                </a:solidFill>
              </a:rPr>
              <a:t>Example:</a:t>
            </a:r>
            <a:endParaRPr lang="en-US" sz="534" dirty="0"/>
          </a:p>
        </p:txBody>
      </p:sp>
      <p:sp>
        <p:nvSpPr>
          <p:cNvPr id="15" name="Shape 12"/>
          <p:cNvSpPr/>
          <p:nvPr/>
        </p:nvSpPr>
        <p:spPr>
          <a:xfrm>
            <a:off x="4779169" y="1572323"/>
            <a:ext cx="4007644" cy="252878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6" name="Shape 13"/>
          <p:cNvSpPr/>
          <p:nvPr/>
        </p:nvSpPr>
        <p:spPr>
          <a:xfrm>
            <a:off x="4779169" y="1572323"/>
            <a:ext cx="21431" cy="252878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7" name="Text 14"/>
          <p:cNvSpPr/>
          <p:nvPr/>
        </p:nvSpPr>
        <p:spPr>
          <a:xfrm>
            <a:off x="4779169" y="1572323"/>
            <a:ext cx="4007644" cy="252878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2C3E50"/>
                </a:solidFill>
              </a:rPr>
              <a:t>employees.Select(e =&gt; e.Name)</a:t>
            </a:r>
            <a:endParaRPr lang="en-US" sz="568" dirty="0"/>
          </a:p>
        </p:txBody>
      </p:sp>
      <p:sp>
        <p:nvSpPr>
          <p:cNvPr id="18" name="Text 15"/>
          <p:cNvSpPr/>
          <p:nvPr/>
        </p:nvSpPr>
        <p:spPr>
          <a:xfrm>
            <a:off x="4779169" y="1882350"/>
            <a:ext cx="400764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138808"/>
                </a:solidFill>
              </a:rPr>
              <a:t>✓ Sirf employees ke naam</a:t>
            </a:r>
            <a:endParaRPr lang="en-US" sz="621" dirty="0"/>
          </a:p>
        </p:txBody>
      </p:sp>
      <p:sp>
        <p:nvSpPr>
          <p:cNvPr id="19" name="Text 16"/>
          <p:cNvSpPr/>
          <p:nvPr/>
        </p:nvSpPr>
        <p:spPr>
          <a:xfrm>
            <a:off x="492919" y="2202368"/>
            <a:ext cx="400764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6B35"/>
                </a:solidFill>
              </a:rPr>
              <a:t>Any</a:t>
            </a:r>
            <a:endParaRPr lang="en-US" sz="784" dirty="0"/>
          </a:p>
        </p:txBody>
      </p:sp>
      <p:sp>
        <p:nvSpPr>
          <p:cNvPr id="20" name="Text 17"/>
          <p:cNvSpPr/>
          <p:nvPr/>
        </p:nvSpPr>
        <p:spPr>
          <a:xfrm>
            <a:off x="492919" y="2430968"/>
            <a:ext cx="4007644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Check karna ki condition match ho rahi hai</a:t>
            </a:r>
            <a:endParaRPr lang="en-US" sz="674" dirty="0"/>
          </a:p>
        </p:txBody>
      </p:sp>
      <p:sp>
        <p:nvSpPr>
          <p:cNvPr id="21" name="Text 18"/>
          <p:cNvSpPr/>
          <p:nvPr/>
        </p:nvSpPr>
        <p:spPr>
          <a:xfrm>
            <a:off x="492919" y="2618129"/>
            <a:ext cx="400764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138808"/>
                </a:solidFill>
              </a:rPr>
              <a:t>Example:</a:t>
            </a:r>
            <a:endParaRPr lang="en-US" sz="534" dirty="0"/>
          </a:p>
        </p:txBody>
      </p:sp>
      <p:sp>
        <p:nvSpPr>
          <p:cNvPr id="22" name="Shape 19"/>
          <p:cNvSpPr/>
          <p:nvPr/>
        </p:nvSpPr>
        <p:spPr>
          <a:xfrm>
            <a:off x="492919" y="2764575"/>
            <a:ext cx="4007644" cy="252878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23" name="Shape 20"/>
          <p:cNvSpPr/>
          <p:nvPr/>
        </p:nvSpPr>
        <p:spPr>
          <a:xfrm>
            <a:off x="492919" y="2764575"/>
            <a:ext cx="21431" cy="252878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24" name="Text 21"/>
          <p:cNvSpPr/>
          <p:nvPr/>
        </p:nvSpPr>
        <p:spPr>
          <a:xfrm>
            <a:off x="492919" y="2764575"/>
            <a:ext cx="4007644" cy="252878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2C3E50"/>
                </a:solidFill>
              </a:rPr>
              <a:t>employees.Any(e =&gt; e.Salary &gt; 100000)</a:t>
            </a:r>
            <a:endParaRPr lang="en-US" sz="568" dirty="0"/>
          </a:p>
        </p:txBody>
      </p:sp>
      <p:sp>
        <p:nvSpPr>
          <p:cNvPr id="25" name="Text 22"/>
          <p:cNvSpPr/>
          <p:nvPr/>
        </p:nvSpPr>
        <p:spPr>
          <a:xfrm>
            <a:off x="492919" y="3074603"/>
            <a:ext cx="400764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138808"/>
                </a:solidFill>
              </a:rPr>
              <a:t>✓ Check if koi 1 Lakh+ kamata hai</a:t>
            </a:r>
            <a:endParaRPr lang="en-US" sz="621" dirty="0"/>
          </a:p>
        </p:txBody>
      </p:sp>
      <p:sp>
        <p:nvSpPr>
          <p:cNvPr id="26" name="Text 23"/>
          <p:cNvSpPr/>
          <p:nvPr/>
        </p:nvSpPr>
        <p:spPr>
          <a:xfrm>
            <a:off x="4779169" y="2202368"/>
            <a:ext cx="400764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6B35"/>
                </a:solidFill>
              </a:rPr>
              <a:t>GroupBy</a:t>
            </a:r>
            <a:endParaRPr lang="en-US" sz="784" dirty="0"/>
          </a:p>
        </p:txBody>
      </p:sp>
      <p:sp>
        <p:nvSpPr>
          <p:cNvPr id="27" name="Text 24"/>
          <p:cNvSpPr/>
          <p:nvPr/>
        </p:nvSpPr>
        <p:spPr>
          <a:xfrm>
            <a:off x="4779169" y="2430968"/>
            <a:ext cx="4007644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Data ko group mein organize karna</a:t>
            </a:r>
            <a:endParaRPr lang="en-US" sz="674" dirty="0"/>
          </a:p>
        </p:txBody>
      </p:sp>
      <p:sp>
        <p:nvSpPr>
          <p:cNvPr id="28" name="Text 25"/>
          <p:cNvSpPr/>
          <p:nvPr/>
        </p:nvSpPr>
        <p:spPr>
          <a:xfrm>
            <a:off x="4779169" y="2618129"/>
            <a:ext cx="400764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138808"/>
                </a:solidFill>
              </a:rPr>
              <a:t>Example:</a:t>
            </a:r>
            <a:endParaRPr lang="en-US" sz="534" dirty="0"/>
          </a:p>
        </p:txBody>
      </p:sp>
      <p:sp>
        <p:nvSpPr>
          <p:cNvPr id="29" name="Shape 26"/>
          <p:cNvSpPr/>
          <p:nvPr/>
        </p:nvSpPr>
        <p:spPr>
          <a:xfrm>
            <a:off x="4779169" y="2764575"/>
            <a:ext cx="4007644" cy="252878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30" name="Shape 27"/>
          <p:cNvSpPr/>
          <p:nvPr/>
        </p:nvSpPr>
        <p:spPr>
          <a:xfrm>
            <a:off x="4779169" y="2764575"/>
            <a:ext cx="21431" cy="252878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1" name="Text 28"/>
          <p:cNvSpPr/>
          <p:nvPr/>
        </p:nvSpPr>
        <p:spPr>
          <a:xfrm>
            <a:off x="4779169" y="2764575"/>
            <a:ext cx="4007644" cy="252878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2C3E50"/>
                </a:solidFill>
              </a:rPr>
              <a:t>employees.GroupBy(e =&gt; e.DeptId)</a:t>
            </a:r>
            <a:endParaRPr lang="en-US" sz="568" dirty="0"/>
          </a:p>
        </p:txBody>
      </p:sp>
      <p:sp>
        <p:nvSpPr>
          <p:cNvPr id="32" name="Text 29"/>
          <p:cNvSpPr/>
          <p:nvPr/>
        </p:nvSpPr>
        <p:spPr>
          <a:xfrm>
            <a:off x="4779169" y="3074603"/>
            <a:ext cx="400764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138808"/>
                </a:solidFill>
              </a:rPr>
              <a:t>✓ Department ke hisaab se group</a:t>
            </a:r>
            <a:endParaRPr lang="en-US" sz="621" dirty="0"/>
          </a:p>
        </p:txBody>
      </p:sp>
      <p:sp>
        <p:nvSpPr>
          <p:cNvPr id="33" name="Shape 30"/>
          <p:cNvSpPr/>
          <p:nvPr/>
        </p:nvSpPr>
        <p:spPr>
          <a:xfrm>
            <a:off x="357188" y="3501777"/>
            <a:ext cx="8429625" cy="910828"/>
          </a:xfrm>
          <a:prstGeom prst="rect">
            <a:avLst/>
          </a:prstGeom>
          <a:solidFill>
            <a:srgbClr val="FFF9E6"/>
          </a:solidFill>
          <a:ln/>
        </p:spPr>
      </p:sp>
      <p:sp>
        <p:nvSpPr>
          <p:cNvPr id="34" name="Shape 31"/>
          <p:cNvSpPr/>
          <p:nvPr/>
        </p:nvSpPr>
        <p:spPr>
          <a:xfrm>
            <a:off x="357188" y="3501777"/>
            <a:ext cx="8429625" cy="1428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5" name="Shape 32"/>
          <p:cNvSpPr/>
          <p:nvPr/>
        </p:nvSpPr>
        <p:spPr>
          <a:xfrm>
            <a:off x="357188" y="3501777"/>
            <a:ext cx="28575" cy="910828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6" name="Text 33"/>
          <p:cNvSpPr/>
          <p:nvPr/>
        </p:nvSpPr>
        <p:spPr>
          <a:xfrm>
            <a:off x="464344" y="3608933"/>
            <a:ext cx="8215313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FF6B35"/>
                </a:solidFill>
              </a:rPr>
              <a:t>💡 LINQ ke Fayde (Benefits):</a:t>
            </a:r>
            <a:endParaRPr lang="en-US" sz="734" dirty="0"/>
          </a:p>
        </p:txBody>
      </p:sp>
      <p:sp>
        <p:nvSpPr>
          <p:cNvPr id="37" name="Text 34"/>
          <p:cNvSpPr/>
          <p:nvPr/>
        </p:nvSpPr>
        <p:spPr>
          <a:xfrm>
            <a:off x="464344" y="3841105"/>
            <a:ext cx="8215313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✓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2C3E50"/>
                </a:solidFill>
              </a:rPr>
              <a:t>Readable Code: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 SQL jaisa syntax, par C# mein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 ✓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2C3E50"/>
                </a:solidFill>
              </a:rPr>
              <a:t>Type-Safe: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 Compile time par errors catch ho jaate hain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 ✓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2C3E50"/>
                </a:solidFill>
              </a:rPr>
              <a:t>Flexible: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 Collections, Databases, XML - sabke saath kaam karta hai</a:t>
            </a:r>
            <a:endParaRPr lang="en-US" sz="727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7188" y="328613"/>
            <a:ext cx="4557713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6B35"/>
                </a:solidFill>
              </a:rPr>
              <a:t>Authentication vs Authorization:</a:t>
            </a:r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6B35"/>
                </a:solidFill>
              </a:rPr>
              <a:t>
</a:t>
            </a:r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6B35"/>
                </a:solidFill>
              </a:rPr>
              <a:t>Kaun aur Kya?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357188" y="948668"/>
            <a:ext cx="45577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i="1" dirty="0">
                <a:solidFill>
                  <a:srgbClr val="138808"/>
                </a:solidFill>
              </a:rPr>
              <a:t>Yeh do alag concepts hain jo security ke liye zaroori hain.</a:t>
            </a:r>
            <a:endParaRPr lang="en-US" sz="784" dirty="0"/>
          </a:p>
        </p:txBody>
      </p:sp>
      <p:sp>
        <p:nvSpPr>
          <p:cNvPr id="5" name="Shape 2"/>
          <p:cNvSpPr/>
          <p:nvPr/>
        </p:nvSpPr>
        <p:spPr>
          <a:xfrm>
            <a:off x="357188" y="1234418"/>
            <a:ext cx="4557713" cy="28575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Shape 3"/>
          <p:cNvSpPr/>
          <p:nvPr/>
        </p:nvSpPr>
        <p:spPr>
          <a:xfrm>
            <a:off x="357188" y="1234418"/>
            <a:ext cx="28575" cy="28575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7" name="Text 4"/>
          <p:cNvSpPr/>
          <p:nvPr/>
        </p:nvSpPr>
        <p:spPr>
          <a:xfrm>
            <a:off x="357188" y="1234418"/>
            <a:ext cx="4557713" cy="285750"/>
          </a:xfrm>
          <a:prstGeom prst="rect">
            <a:avLst/>
          </a:prstGeom>
          <a:noFill/>
          <a:ln/>
        </p:spPr>
        <p:txBody>
          <a:bodyPr wrap="square" lIns="127508" tIns="68072" rIns="127508" bIns="68072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🔐 Authentication</a:t>
            </a:r>
            <a:endParaRPr lang="en-US" sz="784" dirty="0"/>
          </a:p>
        </p:txBody>
      </p:sp>
      <p:sp>
        <p:nvSpPr>
          <p:cNvPr id="8" name="Text 5"/>
          <p:cNvSpPr/>
          <p:nvPr/>
        </p:nvSpPr>
        <p:spPr>
          <a:xfrm>
            <a:off x="485775" y="1591605"/>
            <a:ext cx="442912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2C3E50"/>
                </a:solidFill>
              </a:rPr>
              <a:t>Kaun ho tum?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 Username aur Password se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2C3E50"/>
                </a:solidFill>
              </a:rPr>
              <a:t>Login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 karna.</a:t>
            </a:r>
            <a:endParaRPr lang="en-US" sz="683" dirty="0"/>
          </a:p>
        </p:txBody>
      </p:sp>
      <p:sp>
        <p:nvSpPr>
          <p:cNvPr id="9" name="Text 6"/>
          <p:cNvSpPr/>
          <p:nvPr/>
        </p:nvSpPr>
        <p:spPr>
          <a:xfrm>
            <a:off x="485775" y="1798774"/>
            <a:ext cx="442912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Server check karta hai ki tum kaun ho. Agar correct credentials ho, toh login ho jaate ho.</a:t>
            </a:r>
            <a:endParaRPr lang="en-US" sz="727" dirty="0"/>
          </a:p>
        </p:txBody>
      </p:sp>
      <p:sp>
        <p:nvSpPr>
          <p:cNvPr id="10" name="Shape 7"/>
          <p:cNvSpPr/>
          <p:nvPr/>
        </p:nvSpPr>
        <p:spPr>
          <a:xfrm>
            <a:off x="357188" y="2120243"/>
            <a:ext cx="4557713" cy="285750"/>
          </a:xfrm>
          <a:prstGeom prst="rect">
            <a:avLst/>
          </a:prstGeom>
          <a:solidFill>
            <a:srgbClr val="138808"/>
          </a:solidFill>
          <a:ln/>
        </p:spPr>
      </p:sp>
      <p:sp>
        <p:nvSpPr>
          <p:cNvPr id="11" name="Shape 8"/>
          <p:cNvSpPr/>
          <p:nvPr/>
        </p:nvSpPr>
        <p:spPr>
          <a:xfrm>
            <a:off x="357188" y="2120243"/>
            <a:ext cx="28575" cy="28575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2" name="Text 9"/>
          <p:cNvSpPr/>
          <p:nvPr/>
        </p:nvSpPr>
        <p:spPr>
          <a:xfrm>
            <a:off x="357188" y="2120243"/>
            <a:ext cx="4557713" cy="285750"/>
          </a:xfrm>
          <a:prstGeom prst="rect">
            <a:avLst/>
          </a:prstGeom>
          <a:noFill/>
          <a:ln/>
        </p:spPr>
        <p:txBody>
          <a:bodyPr wrap="square" lIns="127508" tIns="68072" rIns="127508" bIns="68072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✓ Authorization</a:t>
            </a:r>
            <a:endParaRPr lang="en-US" sz="784" dirty="0"/>
          </a:p>
        </p:txBody>
      </p:sp>
      <p:sp>
        <p:nvSpPr>
          <p:cNvPr id="13" name="Text 10"/>
          <p:cNvSpPr/>
          <p:nvPr/>
        </p:nvSpPr>
        <p:spPr>
          <a:xfrm>
            <a:off x="485775" y="2477430"/>
            <a:ext cx="442912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2C3E50"/>
                </a:solidFill>
              </a:rPr>
              <a:t>Tum kya kar sakte ho?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 Login ke baad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2C3E50"/>
                </a:solidFill>
              </a:rPr>
              <a:t>Admin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 page access karna.</a:t>
            </a:r>
            <a:endParaRPr lang="en-US" sz="683" dirty="0"/>
          </a:p>
        </p:txBody>
      </p:sp>
      <p:sp>
        <p:nvSpPr>
          <p:cNvPr id="14" name="Text 11"/>
          <p:cNvSpPr/>
          <p:nvPr/>
        </p:nvSpPr>
        <p:spPr>
          <a:xfrm>
            <a:off x="485775" y="2684599"/>
            <a:ext cx="4429125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Server check karta hai ki tum kya permissions ho. Agar Admin role ho, toh Admin page access kar sakte ho.</a:t>
            </a:r>
            <a:endParaRPr lang="en-US" sz="727" dirty="0"/>
          </a:p>
        </p:txBody>
      </p:sp>
      <p:sp>
        <p:nvSpPr>
          <p:cNvPr id="15" name="Shape 12"/>
          <p:cNvSpPr/>
          <p:nvPr/>
        </p:nvSpPr>
        <p:spPr>
          <a:xfrm>
            <a:off x="485775" y="3041786"/>
            <a:ext cx="4429125" cy="262868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6" name="Shape 13"/>
          <p:cNvSpPr/>
          <p:nvPr/>
        </p:nvSpPr>
        <p:spPr>
          <a:xfrm>
            <a:off x="485775" y="3041786"/>
            <a:ext cx="28575" cy="262868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7" name="Text 14"/>
          <p:cNvSpPr/>
          <p:nvPr/>
        </p:nvSpPr>
        <p:spPr>
          <a:xfrm>
            <a:off x="485775" y="3041786"/>
            <a:ext cx="4429125" cy="262868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2C3E50"/>
                </a:solidFill>
              </a:rPr>
              <a:t>[Authorize(Roles = "Admin")]</a:t>
            </a:r>
            <a:endParaRPr lang="en-US" sz="621" dirty="0"/>
          </a:p>
        </p:txBody>
      </p:sp>
      <p:sp>
        <p:nvSpPr>
          <p:cNvPr id="18" name="Text 15"/>
          <p:cNvSpPr/>
          <p:nvPr/>
        </p:nvSpPr>
        <p:spPr>
          <a:xfrm>
            <a:off x="485775" y="3347517"/>
            <a:ext cx="44291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138808"/>
                </a:solidFill>
              </a:rPr>
              <a:t>✓ Sirf Admin role wale hi is function ko access kar sakte hain.</a:t>
            </a:r>
            <a:endParaRPr lang="en-US" sz="621" dirty="0"/>
          </a:p>
        </p:txBody>
      </p:sp>
      <p:sp>
        <p:nvSpPr>
          <p:cNvPr id="19" name="Shape 16"/>
          <p:cNvSpPr/>
          <p:nvPr/>
        </p:nvSpPr>
        <p:spPr>
          <a:xfrm>
            <a:off x="357188" y="3718992"/>
            <a:ext cx="4557713" cy="435769"/>
          </a:xfrm>
          <a:prstGeom prst="rect">
            <a:avLst/>
          </a:prstGeom>
          <a:solidFill>
            <a:srgbClr val="FFF9E6"/>
          </a:solidFill>
          <a:ln/>
        </p:spPr>
      </p:sp>
      <p:sp>
        <p:nvSpPr>
          <p:cNvPr id="20" name="Shape 17"/>
          <p:cNvSpPr/>
          <p:nvPr/>
        </p:nvSpPr>
        <p:spPr>
          <a:xfrm>
            <a:off x="357188" y="3718992"/>
            <a:ext cx="4557713" cy="1428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1" name="Shape 18"/>
          <p:cNvSpPr/>
          <p:nvPr/>
        </p:nvSpPr>
        <p:spPr>
          <a:xfrm>
            <a:off x="357188" y="3718992"/>
            <a:ext cx="28575" cy="435769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22" name="Text 19"/>
          <p:cNvSpPr/>
          <p:nvPr/>
        </p:nvSpPr>
        <p:spPr>
          <a:xfrm>
            <a:off x="357188" y="3718992"/>
            <a:ext cx="4557713" cy="435769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FF6B35"/>
                </a:solidFill>
              </a:rPr>
              <a:t>🔑 JWT (JSON Web Token):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 Authentication ke liye use hota hai. Server ek token deta hai, aur client 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har request mein woh token bhejta hai.</a:t>
            </a:r>
            <a:endParaRPr lang="en-US" sz="634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8547" y="1771650"/>
            <a:ext cx="2950369" cy="192881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7188" y="328613"/>
            <a:ext cx="8429625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6B35"/>
                </a:solidFill>
              </a:rPr>
              <a:t>Clustered vs Non-Clustered Index: Data Search Speed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357188" y="674359"/>
            <a:ext cx="84296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i="1" dirty="0">
                <a:solidFill>
                  <a:srgbClr val="138808"/>
                </a:solidFill>
              </a:rPr>
              <a:t>Index database mein data ko jaldi dhundhne mein help karte hain.</a:t>
            </a:r>
            <a:endParaRPr lang="en-US" sz="784" dirty="0"/>
          </a:p>
        </p:txBody>
      </p:sp>
      <p:sp>
        <p:nvSpPr>
          <p:cNvPr id="5" name="Shape 2"/>
          <p:cNvSpPr/>
          <p:nvPr/>
        </p:nvSpPr>
        <p:spPr>
          <a:xfrm>
            <a:off x="364331" y="1031546"/>
            <a:ext cx="8415338" cy="32504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364331" y="1031546"/>
            <a:ext cx="2103834" cy="325041"/>
          </a:xfrm>
          <a:prstGeom prst="rect">
            <a:avLst/>
          </a:prstGeom>
          <a:solidFill>
            <a:srgbClr val="FF6B35"/>
          </a:solidFill>
          <a:ln w="18288">
            <a:solidFill>
              <a:srgbClr val="13880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4331" y="1031546"/>
            <a:ext cx="2103834" cy="325041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FFFFFF"/>
                </a:solidFill>
              </a:rPr>
              <a:t>Feature</a:t>
            </a:r>
            <a:endParaRPr lang="en-US" sz="634" dirty="0"/>
          </a:p>
        </p:txBody>
      </p:sp>
      <p:sp>
        <p:nvSpPr>
          <p:cNvPr id="8" name="Shape 5"/>
          <p:cNvSpPr/>
          <p:nvPr/>
        </p:nvSpPr>
        <p:spPr>
          <a:xfrm>
            <a:off x="2465487" y="1031546"/>
            <a:ext cx="3157091" cy="325041"/>
          </a:xfrm>
          <a:prstGeom prst="rect">
            <a:avLst/>
          </a:prstGeom>
          <a:solidFill>
            <a:srgbClr val="E8F5E9"/>
          </a:solidFill>
          <a:ln w="18288">
            <a:solidFill>
              <a:srgbClr val="13880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465487" y="1031546"/>
            <a:ext cx="3157091" cy="325041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FFFFFF"/>
                </a:solidFill>
              </a:rPr>
              <a:t>Clustered Index</a:t>
            </a:r>
            <a:endParaRPr lang="en-US" sz="634" dirty="0"/>
          </a:p>
        </p:txBody>
      </p:sp>
      <p:sp>
        <p:nvSpPr>
          <p:cNvPr id="10" name="Shape 7"/>
          <p:cNvSpPr/>
          <p:nvPr/>
        </p:nvSpPr>
        <p:spPr>
          <a:xfrm>
            <a:off x="5622578" y="1031546"/>
            <a:ext cx="3157091" cy="325041"/>
          </a:xfrm>
          <a:prstGeom prst="rect">
            <a:avLst/>
          </a:prstGeom>
          <a:solidFill>
            <a:srgbClr val="FFF3E0"/>
          </a:solidFill>
          <a:ln w="18288">
            <a:solidFill>
              <a:srgbClr val="13880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22578" y="1031546"/>
            <a:ext cx="3157091" cy="325041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FFFFFF"/>
                </a:solidFill>
              </a:rPr>
              <a:t>Non-Clustered Index</a:t>
            </a:r>
            <a:endParaRPr lang="en-US" sz="634" dirty="0"/>
          </a:p>
        </p:txBody>
      </p:sp>
      <p:sp>
        <p:nvSpPr>
          <p:cNvPr id="12" name="Shape 9"/>
          <p:cNvSpPr/>
          <p:nvPr/>
        </p:nvSpPr>
        <p:spPr>
          <a:xfrm>
            <a:off x="360759" y="1338728"/>
            <a:ext cx="8422481" cy="31789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450056" y="1433382"/>
            <a:ext cx="50048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FF6B35"/>
                </a:solidFill>
              </a:rPr>
              <a:t>Max Count</a:t>
            </a:r>
            <a:endParaRPr lang="en-US" sz="634" dirty="0"/>
          </a:p>
        </p:txBody>
      </p:sp>
      <p:sp>
        <p:nvSpPr>
          <p:cNvPr id="14" name="Shape 11"/>
          <p:cNvSpPr/>
          <p:nvPr/>
        </p:nvSpPr>
        <p:spPr>
          <a:xfrm>
            <a:off x="2466380" y="1338728"/>
            <a:ext cx="3158430" cy="317897"/>
          </a:xfrm>
          <a:prstGeom prst="rect">
            <a:avLst/>
          </a:prstGeom>
          <a:solidFill>
            <a:srgbClr val="E8F5E9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555677" y="1431596"/>
            <a:ext cx="16941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Sirf</a:t>
            </a:r>
            <a:endParaRPr lang="en-US" sz="674" dirty="0"/>
          </a:p>
        </p:txBody>
      </p:sp>
      <p:sp>
        <p:nvSpPr>
          <p:cNvPr id="16" name="Text 13"/>
          <p:cNvSpPr/>
          <p:nvPr/>
        </p:nvSpPr>
        <p:spPr>
          <a:xfrm>
            <a:off x="2725089" y="1431596"/>
            <a:ext cx="5313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2C3E50"/>
                </a:solidFill>
              </a:rPr>
              <a:t>1</a:t>
            </a:r>
            <a:endParaRPr lang="en-US" sz="634" dirty="0"/>
          </a:p>
        </p:txBody>
      </p:sp>
      <p:sp>
        <p:nvSpPr>
          <p:cNvPr id="17" name="Text 14"/>
          <p:cNvSpPr/>
          <p:nvPr/>
        </p:nvSpPr>
        <p:spPr>
          <a:xfrm>
            <a:off x="2778221" y="1431596"/>
            <a:ext cx="41523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per table</a:t>
            </a:r>
            <a:endParaRPr lang="en-US" sz="674" dirty="0"/>
          </a:p>
        </p:txBody>
      </p:sp>
      <p:sp>
        <p:nvSpPr>
          <p:cNvPr id="18" name="Shape 15"/>
          <p:cNvSpPr/>
          <p:nvPr/>
        </p:nvSpPr>
        <p:spPr>
          <a:xfrm>
            <a:off x="5624810" y="1338728"/>
            <a:ext cx="3158430" cy="317897"/>
          </a:xfrm>
          <a:prstGeom prst="rect">
            <a:avLst/>
          </a:prstGeom>
          <a:solidFill>
            <a:srgbClr val="FFF3E0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710535" y="1431596"/>
            <a:ext cx="159367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2C3E50"/>
                </a:solidFill>
              </a:rPr>
              <a:t>999</a:t>
            </a:r>
            <a:endParaRPr lang="en-US" sz="634" dirty="0"/>
          </a:p>
        </p:txBody>
      </p:sp>
      <p:sp>
        <p:nvSpPr>
          <p:cNvPr id="20" name="Text 17"/>
          <p:cNvSpPr/>
          <p:nvPr/>
        </p:nvSpPr>
        <p:spPr>
          <a:xfrm>
            <a:off x="5869902" y="1431596"/>
            <a:ext cx="76831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tak ho sakte hain</a:t>
            </a:r>
            <a:endParaRPr lang="en-US" sz="674" dirty="0"/>
          </a:p>
        </p:txBody>
      </p:sp>
      <p:sp>
        <p:nvSpPr>
          <p:cNvPr id="21" name="Shape 18"/>
          <p:cNvSpPr/>
          <p:nvPr/>
        </p:nvSpPr>
        <p:spPr>
          <a:xfrm>
            <a:off x="360759" y="1656624"/>
            <a:ext cx="8422481" cy="317897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22" name="Text 19"/>
          <p:cNvSpPr/>
          <p:nvPr/>
        </p:nvSpPr>
        <p:spPr>
          <a:xfrm>
            <a:off x="450056" y="1751279"/>
            <a:ext cx="60440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FF6B35"/>
                </a:solidFill>
              </a:rPr>
              <a:t>Data Storage</a:t>
            </a:r>
            <a:endParaRPr lang="en-US" sz="634" dirty="0"/>
          </a:p>
        </p:txBody>
      </p:sp>
      <p:sp>
        <p:nvSpPr>
          <p:cNvPr id="23" name="Shape 20"/>
          <p:cNvSpPr/>
          <p:nvPr/>
        </p:nvSpPr>
        <p:spPr>
          <a:xfrm>
            <a:off x="2466380" y="1656624"/>
            <a:ext cx="3158430" cy="317897"/>
          </a:xfrm>
          <a:prstGeom prst="rect">
            <a:avLst/>
          </a:prstGeom>
          <a:solidFill>
            <a:srgbClr val="E8F5E9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555677" y="1749493"/>
            <a:ext cx="64397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Actual data ko</a:t>
            </a:r>
            <a:endParaRPr lang="en-US" sz="674" dirty="0"/>
          </a:p>
        </p:txBody>
      </p:sp>
      <p:sp>
        <p:nvSpPr>
          <p:cNvPr id="25" name="Text 22"/>
          <p:cNvSpPr/>
          <p:nvPr/>
        </p:nvSpPr>
        <p:spPr>
          <a:xfrm>
            <a:off x="3199647" y="1749493"/>
            <a:ext cx="18612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2C3E50"/>
                </a:solidFill>
              </a:rPr>
              <a:t>sort</a:t>
            </a:r>
            <a:endParaRPr lang="en-US" sz="634" dirty="0"/>
          </a:p>
        </p:txBody>
      </p:sp>
      <p:sp>
        <p:nvSpPr>
          <p:cNvPr id="26" name="Text 23"/>
          <p:cNvSpPr/>
          <p:nvPr/>
        </p:nvSpPr>
        <p:spPr>
          <a:xfrm>
            <a:off x="3385775" y="1749493"/>
            <a:ext cx="43230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karta hai.</a:t>
            </a:r>
            <a:endParaRPr lang="en-US" sz="674" dirty="0"/>
          </a:p>
        </p:txBody>
      </p:sp>
      <p:sp>
        <p:nvSpPr>
          <p:cNvPr id="27" name="Shape 24"/>
          <p:cNvSpPr/>
          <p:nvPr/>
        </p:nvSpPr>
        <p:spPr>
          <a:xfrm>
            <a:off x="5624810" y="1656624"/>
            <a:ext cx="3158430" cy="317897"/>
          </a:xfrm>
          <a:prstGeom prst="rect">
            <a:avLst/>
          </a:prstGeom>
          <a:solidFill>
            <a:srgbClr val="FFF3E0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710535" y="1749493"/>
            <a:ext cx="82524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Data ki location ka</a:t>
            </a:r>
            <a:endParaRPr lang="en-US" sz="674" dirty="0"/>
          </a:p>
        </p:txBody>
      </p:sp>
      <p:sp>
        <p:nvSpPr>
          <p:cNvPr id="29" name="Text 26"/>
          <p:cNvSpPr/>
          <p:nvPr/>
        </p:nvSpPr>
        <p:spPr>
          <a:xfrm>
            <a:off x="6535778" y="1749493"/>
            <a:ext cx="34298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2C3E50"/>
                </a:solidFill>
              </a:rPr>
              <a:t>pointer</a:t>
            </a:r>
            <a:endParaRPr lang="en-US" sz="634" dirty="0"/>
          </a:p>
        </p:txBody>
      </p:sp>
      <p:sp>
        <p:nvSpPr>
          <p:cNvPr id="30" name="Text 27"/>
          <p:cNvSpPr/>
          <p:nvPr/>
        </p:nvSpPr>
        <p:spPr>
          <a:xfrm>
            <a:off x="6878762" y="1749493"/>
            <a:ext cx="67952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store karta hai.</a:t>
            </a:r>
            <a:endParaRPr lang="en-US" sz="674" dirty="0"/>
          </a:p>
        </p:txBody>
      </p:sp>
      <p:sp>
        <p:nvSpPr>
          <p:cNvPr id="31" name="Shape 28"/>
          <p:cNvSpPr/>
          <p:nvPr/>
        </p:nvSpPr>
        <p:spPr>
          <a:xfrm>
            <a:off x="360759" y="1974521"/>
            <a:ext cx="8422481" cy="31789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29"/>
          <p:cNvSpPr/>
          <p:nvPr/>
        </p:nvSpPr>
        <p:spPr>
          <a:xfrm>
            <a:off x="450056" y="2069176"/>
            <a:ext cx="27852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FF6B35"/>
                </a:solidFill>
              </a:rPr>
              <a:t>Speed</a:t>
            </a:r>
            <a:endParaRPr lang="en-US" sz="634" dirty="0"/>
          </a:p>
        </p:txBody>
      </p:sp>
      <p:sp>
        <p:nvSpPr>
          <p:cNvPr id="33" name="Shape 30"/>
          <p:cNvSpPr/>
          <p:nvPr/>
        </p:nvSpPr>
        <p:spPr>
          <a:xfrm>
            <a:off x="2466380" y="1974521"/>
            <a:ext cx="3158430" cy="317897"/>
          </a:xfrm>
          <a:prstGeom prst="rect">
            <a:avLst/>
          </a:prstGeom>
          <a:solidFill>
            <a:srgbClr val="E8F5E9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555677" y="2067390"/>
            <a:ext cx="28494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Bahut</a:t>
            </a:r>
            <a:endParaRPr lang="en-US" sz="674" dirty="0"/>
          </a:p>
        </p:txBody>
      </p:sp>
      <p:sp>
        <p:nvSpPr>
          <p:cNvPr id="35" name="Text 32"/>
          <p:cNvSpPr/>
          <p:nvPr/>
        </p:nvSpPr>
        <p:spPr>
          <a:xfrm>
            <a:off x="2840617" y="2067390"/>
            <a:ext cx="19355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2C3E50"/>
                </a:solidFill>
              </a:rPr>
              <a:t>Fast</a:t>
            </a:r>
            <a:endParaRPr lang="en-US" sz="634" dirty="0"/>
          </a:p>
        </p:txBody>
      </p:sp>
      <p:sp>
        <p:nvSpPr>
          <p:cNvPr id="36" name="Text 33"/>
          <p:cNvSpPr/>
          <p:nvPr/>
        </p:nvSpPr>
        <p:spPr>
          <a:xfrm>
            <a:off x="3034168" y="2067390"/>
            <a:ext cx="120824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(Primary Key par banta hai)</a:t>
            </a:r>
            <a:endParaRPr lang="en-US" sz="674" dirty="0"/>
          </a:p>
        </p:txBody>
      </p:sp>
      <p:sp>
        <p:nvSpPr>
          <p:cNvPr id="37" name="Shape 34"/>
          <p:cNvSpPr/>
          <p:nvPr/>
        </p:nvSpPr>
        <p:spPr>
          <a:xfrm>
            <a:off x="5624810" y="1974521"/>
            <a:ext cx="3158430" cy="317897"/>
          </a:xfrm>
          <a:prstGeom prst="rect">
            <a:avLst/>
          </a:prstGeom>
          <a:solidFill>
            <a:srgbClr val="FFF3E0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710535" y="2067390"/>
            <a:ext cx="52090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2C3E50"/>
                </a:solidFill>
              </a:rPr>
              <a:t>Thoda slow</a:t>
            </a:r>
            <a:endParaRPr lang="en-US" sz="634" dirty="0"/>
          </a:p>
        </p:txBody>
      </p:sp>
      <p:sp>
        <p:nvSpPr>
          <p:cNvPr id="39" name="Text 36"/>
          <p:cNvSpPr/>
          <p:nvPr/>
        </p:nvSpPr>
        <p:spPr>
          <a:xfrm>
            <a:off x="6231443" y="2067390"/>
            <a:ext cx="139278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(Pointer follow karna padta hai)</a:t>
            </a:r>
            <a:endParaRPr lang="en-US" sz="674" dirty="0"/>
          </a:p>
        </p:txBody>
      </p:sp>
      <p:sp>
        <p:nvSpPr>
          <p:cNvPr id="40" name="Shape 37"/>
          <p:cNvSpPr/>
          <p:nvPr/>
        </p:nvSpPr>
        <p:spPr>
          <a:xfrm>
            <a:off x="360759" y="2292418"/>
            <a:ext cx="8422481" cy="317897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41" name="Text 38"/>
          <p:cNvSpPr/>
          <p:nvPr/>
        </p:nvSpPr>
        <p:spPr>
          <a:xfrm>
            <a:off x="450056" y="2387073"/>
            <a:ext cx="34530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FF6B35"/>
                </a:solidFill>
              </a:rPr>
              <a:t>Default</a:t>
            </a:r>
            <a:endParaRPr lang="en-US" sz="634" dirty="0"/>
          </a:p>
        </p:txBody>
      </p:sp>
      <p:sp>
        <p:nvSpPr>
          <p:cNvPr id="42" name="Shape 39"/>
          <p:cNvSpPr/>
          <p:nvPr/>
        </p:nvSpPr>
        <p:spPr>
          <a:xfrm>
            <a:off x="2466380" y="2292418"/>
            <a:ext cx="3158430" cy="317897"/>
          </a:xfrm>
          <a:prstGeom prst="rect">
            <a:avLst/>
          </a:prstGeom>
          <a:solidFill>
            <a:srgbClr val="E8F5E9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2466380" y="2292418"/>
            <a:ext cx="3158430" cy="31789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Primary Key par automatically banta hai</a:t>
            </a:r>
            <a:endParaRPr lang="en-US" sz="674" dirty="0"/>
          </a:p>
        </p:txBody>
      </p:sp>
      <p:sp>
        <p:nvSpPr>
          <p:cNvPr id="44" name="Shape 41"/>
          <p:cNvSpPr/>
          <p:nvPr/>
        </p:nvSpPr>
        <p:spPr>
          <a:xfrm>
            <a:off x="5624810" y="2292418"/>
            <a:ext cx="3158430" cy="317897"/>
          </a:xfrm>
          <a:prstGeom prst="rect">
            <a:avLst/>
          </a:prstGeom>
          <a:solidFill>
            <a:srgbClr val="FFF3E0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5624810" y="2292418"/>
            <a:ext cx="3158430" cy="31789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Optional - manually create karna padta hai</a:t>
            </a:r>
            <a:endParaRPr lang="en-US" sz="674" dirty="0"/>
          </a:p>
        </p:txBody>
      </p:sp>
      <p:sp>
        <p:nvSpPr>
          <p:cNvPr id="46" name="Shape 43"/>
          <p:cNvSpPr/>
          <p:nvPr/>
        </p:nvSpPr>
        <p:spPr>
          <a:xfrm>
            <a:off x="360759" y="2610315"/>
            <a:ext cx="8422481" cy="31789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Text 44"/>
          <p:cNvSpPr/>
          <p:nvPr/>
        </p:nvSpPr>
        <p:spPr>
          <a:xfrm>
            <a:off x="450056" y="2704970"/>
            <a:ext cx="41171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FF6B35"/>
                </a:solidFill>
              </a:rPr>
              <a:t>Use Case</a:t>
            </a:r>
            <a:endParaRPr lang="en-US" sz="634" dirty="0"/>
          </a:p>
        </p:txBody>
      </p:sp>
      <p:sp>
        <p:nvSpPr>
          <p:cNvPr id="48" name="Shape 45"/>
          <p:cNvSpPr/>
          <p:nvPr/>
        </p:nvSpPr>
        <p:spPr>
          <a:xfrm>
            <a:off x="2466380" y="2610315"/>
            <a:ext cx="3158430" cy="317897"/>
          </a:xfrm>
          <a:prstGeom prst="rect">
            <a:avLst/>
          </a:prstGeom>
          <a:solidFill>
            <a:srgbClr val="E8F5E9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2466380" y="2610315"/>
            <a:ext cx="3158430" cy="31789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Frequently searched columns (ID, Date)</a:t>
            </a:r>
            <a:endParaRPr lang="en-US" sz="674" dirty="0"/>
          </a:p>
        </p:txBody>
      </p:sp>
      <p:sp>
        <p:nvSpPr>
          <p:cNvPr id="50" name="Shape 47"/>
          <p:cNvSpPr/>
          <p:nvPr/>
        </p:nvSpPr>
        <p:spPr>
          <a:xfrm>
            <a:off x="5624810" y="2610315"/>
            <a:ext cx="3158430" cy="317897"/>
          </a:xfrm>
          <a:prstGeom prst="rect">
            <a:avLst/>
          </a:prstGeom>
          <a:solidFill>
            <a:srgbClr val="FFF3E0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5624810" y="2610315"/>
            <a:ext cx="3158430" cy="31789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Other columns jo search karte ho (Name, Email)</a:t>
            </a:r>
            <a:endParaRPr lang="en-US" sz="674" dirty="0"/>
          </a:p>
        </p:txBody>
      </p:sp>
      <p:sp>
        <p:nvSpPr>
          <p:cNvPr id="52" name="Shape 49"/>
          <p:cNvSpPr/>
          <p:nvPr/>
        </p:nvSpPr>
        <p:spPr>
          <a:xfrm>
            <a:off x="357188" y="3181815"/>
            <a:ext cx="8429625" cy="872207"/>
          </a:xfrm>
          <a:prstGeom prst="rect">
            <a:avLst/>
          </a:prstGeom>
          <a:solidFill>
            <a:srgbClr val="FFF9E6"/>
          </a:solidFill>
          <a:ln/>
        </p:spPr>
      </p:sp>
      <p:sp>
        <p:nvSpPr>
          <p:cNvPr id="53" name="Shape 50"/>
          <p:cNvSpPr/>
          <p:nvPr/>
        </p:nvSpPr>
        <p:spPr>
          <a:xfrm>
            <a:off x="357188" y="3181815"/>
            <a:ext cx="8429625" cy="1428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4" name="Shape 51"/>
          <p:cNvSpPr/>
          <p:nvPr/>
        </p:nvSpPr>
        <p:spPr>
          <a:xfrm>
            <a:off x="357188" y="3181815"/>
            <a:ext cx="28575" cy="872207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55" name="Text 52"/>
          <p:cNvSpPr/>
          <p:nvPr/>
        </p:nvSpPr>
        <p:spPr>
          <a:xfrm>
            <a:off x="464344" y="3288971"/>
            <a:ext cx="8215313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FF6B35"/>
                </a:solidFill>
              </a:rPr>
              <a:t>📖 Analogy - Kitaab ka Example:</a:t>
            </a:r>
            <a:endParaRPr lang="en-US" sz="734" dirty="0"/>
          </a:p>
        </p:txBody>
      </p:sp>
      <p:sp>
        <p:nvSpPr>
          <p:cNvPr id="56" name="Text 53"/>
          <p:cNvSpPr/>
          <p:nvPr/>
        </p:nvSpPr>
        <p:spPr>
          <a:xfrm>
            <a:off x="464344" y="3521143"/>
            <a:ext cx="8215313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138808"/>
                </a:solidFill>
              </a:rPr>
              <a:t>Clustered Index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 = Ek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138808"/>
                </a:solidFill>
              </a:rPr>
              <a:t>kitaab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 jo alphabetical order mein likhi hai. Jab aap kisi word ko dhundna ho, toh directly us page par ja sakte ho kyunki data sorted hai.</a:t>
            </a:r>
            <a:endParaRPr lang="en-US" sz="634" dirty="0"/>
          </a:p>
        </p:txBody>
      </p:sp>
      <p:sp>
        <p:nvSpPr>
          <p:cNvPr id="57" name="Text 54"/>
          <p:cNvSpPr/>
          <p:nvPr/>
        </p:nvSpPr>
        <p:spPr>
          <a:xfrm>
            <a:off x="464344" y="3726861"/>
            <a:ext cx="8215313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138808"/>
                </a:solidFill>
              </a:rPr>
              <a:t>Non-Clustered Index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 = Kitaab ke peeche ka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138808"/>
                </a:solidFill>
              </a:rPr>
              <a:t>Index Page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 jo important topics ke page numbers batata hai. Pehle Index dekho, phir us page par jao.</a:t>
            </a:r>
            <a:endParaRPr lang="en-US" sz="634" dirty="0"/>
          </a:p>
        </p:txBody>
      </p:sp>
      <p:sp>
        <p:nvSpPr>
          <p:cNvPr id="58" name="Shape 55"/>
          <p:cNvSpPr/>
          <p:nvPr/>
        </p:nvSpPr>
        <p:spPr>
          <a:xfrm>
            <a:off x="357188" y="4146891"/>
            <a:ext cx="8429625" cy="310753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59" name="Shape 56"/>
          <p:cNvSpPr/>
          <p:nvPr/>
        </p:nvSpPr>
        <p:spPr>
          <a:xfrm>
            <a:off x="357188" y="4146891"/>
            <a:ext cx="28575" cy="310753"/>
          </a:xfrm>
          <a:prstGeom prst="rect">
            <a:avLst/>
          </a:prstGeom>
          <a:solidFill>
            <a:srgbClr val="138808"/>
          </a:solidFill>
          <a:ln/>
        </p:spPr>
      </p:sp>
      <p:sp>
        <p:nvSpPr>
          <p:cNvPr id="60" name="Text 57"/>
          <p:cNvSpPr/>
          <p:nvPr/>
        </p:nvSpPr>
        <p:spPr>
          <a:xfrm>
            <a:off x="357188" y="4146891"/>
            <a:ext cx="8429625" cy="31075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FF6B35"/>
                </a:solidFill>
              </a:rPr>
              <a:t>🎯 Key Takeaway: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 Clustered Index bahut fast hai kyunki data directly sorted rehta hai. Non-Clustered Index thoda slow hai par flexible hai - multiple indexes bana sakte ho.</a:t>
            </a:r>
            <a:endParaRPr lang="en-US" sz="634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7188" y="328613"/>
            <a:ext cx="4557713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6B35"/>
                </a:solidFill>
              </a:rPr>
              <a:t>async-await: Application ki Capacity Badhana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357188" y="948668"/>
            <a:ext cx="45577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i="1" dirty="0">
                <a:solidFill>
                  <a:srgbClr val="138808"/>
                </a:solidFill>
              </a:rPr>
              <a:t>Jab koi operation time leta hai (e.g., DB call), toh hum async-await use karte hain.</a:t>
            </a:r>
            <a:endParaRPr lang="en-US" sz="784" dirty="0"/>
          </a:p>
        </p:txBody>
      </p:sp>
      <p:sp>
        <p:nvSpPr>
          <p:cNvPr id="5" name="Shape 2"/>
          <p:cNvSpPr/>
          <p:nvPr/>
        </p:nvSpPr>
        <p:spPr>
          <a:xfrm>
            <a:off x="357188" y="1227274"/>
            <a:ext cx="4557713" cy="28575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Shape 3"/>
          <p:cNvSpPr/>
          <p:nvPr/>
        </p:nvSpPr>
        <p:spPr>
          <a:xfrm>
            <a:off x="357188" y="1227274"/>
            <a:ext cx="28575" cy="28575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7" name="Text 4"/>
          <p:cNvSpPr/>
          <p:nvPr/>
        </p:nvSpPr>
        <p:spPr>
          <a:xfrm>
            <a:off x="357188" y="1227274"/>
            <a:ext cx="4557713" cy="285750"/>
          </a:xfrm>
          <a:prstGeom prst="rect">
            <a:avLst/>
          </a:prstGeom>
          <a:noFill/>
          <a:ln/>
        </p:spPr>
        <p:txBody>
          <a:bodyPr wrap="square" lIns="127508" tIns="68072" rIns="127508" bIns="68072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❌ Problem (Bina async-await)</a:t>
            </a:r>
            <a:endParaRPr lang="en-US" sz="784" dirty="0"/>
          </a:p>
        </p:txBody>
      </p:sp>
      <p:sp>
        <p:nvSpPr>
          <p:cNvPr id="8" name="Text 5"/>
          <p:cNvSpPr/>
          <p:nvPr/>
        </p:nvSpPr>
        <p:spPr>
          <a:xfrm>
            <a:off x="485775" y="1570174"/>
            <a:ext cx="4429125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Jab DB call hoti hai, toh woh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2C3E50"/>
                </a:solidFill>
              </a:rPr>
              <a:t>thread (worker)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2C3E50"/>
                </a:solidFill>
              </a:rPr>
              <a:t>block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 ho jaata hai aur doosri requests handle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nahi kar pata.</a:t>
            </a:r>
            <a:endParaRPr lang="en-US" sz="727" dirty="0"/>
          </a:p>
        </p:txBody>
      </p:sp>
      <p:sp>
        <p:nvSpPr>
          <p:cNvPr id="9" name="Text 6"/>
          <p:cNvSpPr/>
          <p:nvPr/>
        </p:nvSpPr>
        <p:spPr>
          <a:xfrm>
            <a:off x="592931" y="1927361"/>
            <a:ext cx="4321969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Thread busy rehta hai (sirf wait kar raha hai)</a:t>
            </a:r>
            <a:endParaRPr lang="en-US" sz="674" dirty="0"/>
          </a:p>
        </p:txBody>
      </p:sp>
      <p:sp>
        <p:nvSpPr>
          <p:cNvPr id="10" name="Text 7"/>
          <p:cNvSpPr/>
          <p:nvPr/>
        </p:nvSpPr>
        <p:spPr>
          <a:xfrm>
            <a:off x="592931" y="2085947"/>
            <a:ext cx="4321969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Doosri requests ke liye thread available nahi hota</a:t>
            </a:r>
            <a:endParaRPr lang="en-US" sz="674" dirty="0"/>
          </a:p>
        </p:txBody>
      </p:sp>
      <p:sp>
        <p:nvSpPr>
          <p:cNvPr id="11" name="Text 8"/>
          <p:cNvSpPr/>
          <p:nvPr/>
        </p:nvSpPr>
        <p:spPr>
          <a:xfrm>
            <a:off x="592931" y="2244533"/>
            <a:ext cx="4321969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Server ki capacity kam ho jaati hai</a:t>
            </a:r>
            <a:endParaRPr lang="en-US" sz="674" dirty="0"/>
          </a:p>
        </p:txBody>
      </p:sp>
      <p:sp>
        <p:nvSpPr>
          <p:cNvPr id="12" name="Text 9"/>
          <p:cNvSpPr/>
          <p:nvPr/>
        </p:nvSpPr>
        <p:spPr>
          <a:xfrm>
            <a:off x="592931" y="2403118"/>
            <a:ext cx="4321969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Zyada users → Server slow ho jaata hai</a:t>
            </a:r>
            <a:endParaRPr lang="en-US" sz="674" dirty="0"/>
          </a:p>
        </p:txBody>
      </p:sp>
      <p:sp>
        <p:nvSpPr>
          <p:cNvPr id="13" name="Shape 10"/>
          <p:cNvSpPr/>
          <p:nvPr/>
        </p:nvSpPr>
        <p:spPr>
          <a:xfrm>
            <a:off x="357188" y="2676004"/>
            <a:ext cx="4557713" cy="285750"/>
          </a:xfrm>
          <a:prstGeom prst="rect">
            <a:avLst/>
          </a:prstGeom>
          <a:solidFill>
            <a:srgbClr val="138808"/>
          </a:solidFill>
          <a:ln/>
        </p:spPr>
      </p:sp>
      <p:sp>
        <p:nvSpPr>
          <p:cNvPr id="14" name="Shape 11"/>
          <p:cNvSpPr/>
          <p:nvPr/>
        </p:nvSpPr>
        <p:spPr>
          <a:xfrm>
            <a:off x="357188" y="2676004"/>
            <a:ext cx="28575" cy="28575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5" name="Text 12"/>
          <p:cNvSpPr/>
          <p:nvPr/>
        </p:nvSpPr>
        <p:spPr>
          <a:xfrm>
            <a:off x="357188" y="2676004"/>
            <a:ext cx="4557713" cy="285750"/>
          </a:xfrm>
          <a:prstGeom prst="rect">
            <a:avLst/>
          </a:prstGeom>
          <a:noFill/>
          <a:ln/>
        </p:spPr>
        <p:txBody>
          <a:bodyPr wrap="square" lIns="127508" tIns="68072" rIns="127508" bIns="68072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✓ Solution (async-await ke saath)</a:t>
            </a:r>
            <a:endParaRPr lang="en-US" sz="784" dirty="0"/>
          </a:p>
        </p:txBody>
      </p:sp>
      <p:sp>
        <p:nvSpPr>
          <p:cNvPr id="16" name="Text 13"/>
          <p:cNvSpPr/>
          <p:nvPr/>
        </p:nvSpPr>
        <p:spPr>
          <a:xfrm>
            <a:off x="485775" y="3018904"/>
            <a:ext cx="4429125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2C3E50"/>
                </a:solidFill>
              </a:rPr>
              <a:t>async-await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 use karne se, jab DB call ho rahi hoti hai, toh woh thread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2C3E50"/>
                </a:solidFill>
              </a:rPr>
              <a:t>free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 ho jaata hai aur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doosri requests handle karta hai.</a:t>
            </a:r>
            <a:endParaRPr lang="en-US" sz="683" dirty="0"/>
          </a:p>
        </p:txBody>
      </p:sp>
      <p:sp>
        <p:nvSpPr>
          <p:cNvPr id="17" name="Text 14"/>
          <p:cNvSpPr/>
          <p:nvPr/>
        </p:nvSpPr>
        <p:spPr>
          <a:xfrm>
            <a:off x="592931" y="3376092"/>
            <a:ext cx="4321969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Thread block nahi hota</a:t>
            </a:r>
            <a:endParaRPr lang="en-US" sz="674" dirty="0"/>
          </a:p>
        </p:txBody>
      </p:sp>
      <p:sp>
        <p:nvSpPr>
          <p:cNvPr id="18" name="Text 15"/>
          <p:cNvSpPr/>
          <p:nvPr/>
        </p:nvSpPr>
        <p:spPr>
          <a:xfrm>
            <a:off x="592931" y="3534677"/>
            <a:ext cx="4321969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Doosri requests ke liye thread available rehta hai</a:t>
            </a:r>
            <a:endParaRPr lang="en-US" sz="674" dirty="0"/>
          </a:p>
        </p:txBody>
      </p:sp>
      <p:sp>
        <p:nvSpPr>
          <p:cNvPr id="19" name="Text 16"/>
          <p:cNvSpPr/>
          <p:nvPr/>
        </p:nvSpPr>
        <p:spPr>
          <a:xfrm>
            <a:off x="592931" y="3693263"/>
            <a:ext cx="4321969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Server ki capacity badh jaati hai</a:t>
            </a:r>
            <a:endParaRPr lang="en-US" sz="674" dirty="0"/>
          </a:p>
        </p:txBody>
      </p:sp>
      <p:sp>
        <p:nvSpPr>
          <p:cNvPr id="20" name="Text 17"/>
          <p:cNvSpPr/>
          <p:nvPr/>
        </p:nvSpPr>
        <p:spPr>
          <a:xfrm>
            <a:off x="592931" y="3851849"/>
            <a:ext cx="4321969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Zyada users ko handle kar sakte ho</a:t>
            </a:r>
            <a:endParaRPr lang="en-US" sz="674" dirty="0"/>
          </a:p>
        </p:txBody>
      </p:sp>
      <p:sp>
        <p:nvSpPr>
          <p:cNvPr id="21" name="Shape 18"/>
          <p:cNvSpPr/>
          <p:nvPr/>
        </p:nvSpPr>
        <p:spPr>
          <a:xfrm>
            <a:off x="485775" y="4024722"/>
            <a:ext cx="4429125" cy="38286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22" name="Shape 19"/>
          <p:cNvSpPr/>
          <p:nvPr/>
        </p:nvSpPr>
        <p:spPr>
          <a:xfrm>
            <a:off x="485775" y="4024722"/>
            <a:ext cx="28575" cy="38286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23" name="Text 20"/>
          <p:cNvSpPr/>
          <p:nvPr/>
        </p:nvSpPr>
        <p:spPr>
          <a:xfrm>
            <a:off x="485775" y="4024722"/>
            <a:ext cx="4429125" cy="382860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2C3E50"/>
                </a:solidFill>
              </a:rPr>
              <a:t>public async Task&lt;IActionResult&gt; Get() =&gt;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2C3E50"/>
                </a:solidFill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2C3E50"/>
                </a:solidFill>
              </a:rPr>
              <a:t> Ok(await context.Employees.ToListAsync());</a:t>
            </a:r>
            <a:endParaRPr lang="en-US" sz="621" dirty="0"/>
          </a:p>
        </p:txBody>
      </p:sp>
      <p:sp>
        <p:nvSpPr>
          <p:cNvPr id="24" name="Shape 21"/>
          <p:cNvSpPr/>
          <p:nvPr/>
        </p:nvSpPr>
        <p:spPr>
          <a:xfrm>
            <a:off x="357188" y="4564745"/>
            <a:ext cx="4557713" cy="435769"/>
          </a:xfrm>
          <a:prstGeom prst="rect">
            <a:avLst/>
          </a:prstGeom>
          <a:solidFill>
            <a:srgbClr val="FFF9E6"/>
          </a:solidFill>
          <a:ln/>
        </p:spPr>
      </p:sp>
      <p:sp>
        <p:nvSpPr>
          <p:cNvPr id="25" name="Shape 22"/>
          <p:cNvSpPr/>
          <p:nvPr/>
        </p:nvSpPr>
        <p:spPr>
          <a:xfrm>
            <a:off x="357188" y="4564745"/>
            <a:ext cx="4557713" cy="1428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6" name="Shape 23"/>
          <p:cNvSpPr/>
          <p:nvPr/>
        </p:nvSpPr>
        <p:spPr>
          <a:xfrm>
            <a:off x="357188" y="4564745"/>
            <a:ext cx="28575" cy="435769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27" name="Text 24"/>
          <p:cNvSpPr/>
          <p:nvPr/>
        </p:nvSpPr>
        <p:spPr>
          <a:xfrm>
            <a:off x="357188" y="4564745"/>
            <a:ext cx="4557713" cy="435769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FF6B35"/>
                </a:solidFill>
              </a:rPr>
              <a:t>🚀 Fayda: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 Server ki </a:t>
            </a:r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FF6B35"/>
                </a:solidFill>
              </a:rPr>
              <a:t>capacity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 badh jaati hai. Zyada requests handle ho sakti hain, aur application 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fast rehta hai.</a:t>
            </a:r>
            <a:endParaRPr lang="en-US" sz="634" dirty="0"/>
          </a:p>
        </p:txBody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2106" y="1607344"/>
            <a:ext cx="3143250" cy="22574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7188" y="328613"/>
            <a:ext cx="8429625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6B35"/>
                </a:solidFill>
              </a:rPr>
              <a:t>Interview Tips aur Next Steps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357188" y="660071"/>
            <a:ext cx="84296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i="1" dirty="0">
                <a:solidFill>
                  <a:srgbClr val="138808"/>
                </a:solidFill>
              </a:rPr>
              <a:t>Thodi si mehnat aur offer letter aapka!</a:t>
            </a:r>
            <a:endParaRPr lang="en-US" sz="784" dirty="0"/>
          </a:p>
        </p:txBody>
      </p:sp>
      <p:sp>
        <p:nvSpPr>
          <p:cNvPr id="5" name="Shape 2"/>
          <p:cNvSpPr/>
          <p:nvPr/>
        </p:nvSpPr>
        <p:spPr>
          <a:xfrm>
            <a:off x="357188" y="1017259"/>
            <a:ext cx="8429625" cy="307181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Shape 3"/>
          <p:cNvSpPr/>
          <p:nvPr/>
        </p:nvSpPr>
        <p:spPr>
          <a:xfrm>
            <a:off x="357188" y="1017259"/>
            <a:ext cx="28575" cy="307181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7" name="Text 4"/>
          <p:cNvSpPr/>
          <p:nvPr/>
        </p:nvSpPr>
        <p:spPr>
          <a:xfrm>
            <a:off x="357188" y="1017259"/>
            <a:ext cx="8429625" cy="307181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💡 Interview Tips</a:t>
            </a: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442913" y="1381590"/>
            <a:ext cx="409336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6B35"/>
                </a:solidFill>
              </a:rPr>
              <a:t>Tip 1: Practice Code</a:t>
            </a:r>
            <a:endParaRPr lang="en-US" sz="683" dirty="0"/>
          </a:p>
        </p:txBody>
      </p:sp>
      <p:sp>
        <p:nvSpPr>
          <p:cNvPr id="9" name="Text 6"/>
          <p:cNvSpPr/>
          <p:nvPr/>
        </p:nvSpPr>
        <p:spPr>
          <a:xfrm>
            <a:off x="442913" y="1545896"/>
            <a:ext cx="4093369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Sirf padhne se nahi hoga. Ek </a:t>
            </a:r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2C3E50"/>
                </a:solidFill>
              </a:rPr>
              <a:t>Mini CRUD Project</a:t>
            </a:r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 banao aur khud se run karke dekho.</a:t>
            </a:r>
            <a:endParaRPr lang="en-US" sz="674" dirty="0"/>
          </a:p>
        </p:txBody>
      </p:sp>
      <p:sp>
        <p:nvSpPr>
          <p:cNvPr id="10" name="Text 7"/>
          <p:cNvSpPr/>
          <p:nvPr/>
        </p:nvSpPr>
        <p:spPr>
          <a:xfrm>
            <a:off x="4693444" y="1381590"/>
            <a:ext cx="409336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6B35"/>
                </a:solidFill>
              </a:rPr>
              <a:t>Tip 2: Revise Loud</a:t>
            </a:r>
            <a:endParaRPr lang="en-US" sz="683" dirty="0"/>
          </a:p>
        </p:txBody>
      </p:sp>
      <p:sp>
        <p:nvSpPr>
          <p:cNvPr id="11" name="Text 8"/>
          <p:cNvSpPr/>
          <p:nvPr/>
        </p:nvSpPr>
        <p:spPr>
          <a:xfrm>
            <a:off x="4693444" y="1545896"/>
            <a:ext cx="4093369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Har answer ko </a:t>
            </a:r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2C3E50"/>
                </a:solidFill>
              </a:rPr>
              <a:t>zor se</a:t>
            </a:r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 bol kar practice karo. Confidence badhega aur memory mein bhi stick </a:t>
            </a:r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ho jayega.</a:t>
            </a:r>
            <a:endParaRPr lang="en-US" sz="674" dirty="0"/>
          </a:p>
        </p:txBody>
      </p:sp>
      <p:sp>
        <p:nvSpPr>
          <p:cNvPr id="12" name="Text 9"/>
          <p:cNvSpPr/>
          <p:nvPr/>
        </p:nvSpPr>
        <p:spPr>
          <a:xfrm>
            <a:off x="442913" y="1877355"/>
            <a:ext cx="409336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6B35"/>
                </a:solidFill>
              </a:rPr>
              <a:t>Tip 3: Real Examples</a:t>
            </a:r>
            <a:endParaRPr lang="en-US" sz="683" dirty="0"/>
          </a:p>
        </p:txBody>
      </p:sp>
      <p:sp>
        <p:nvSpPr>
          <p:cNvPr id="13" name="Text 10"/>
          <p:cNvSpPr/>
          <p:nvPr/>
        </p:nvSpPr>
        <p:spPr>
          <a:xfrm>
            <a:off x="442913" y="2041661"/>
            <a:ext cx="4093369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Har concept ke liye </a:t>
            </a:r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2C3E50"/>
                </a:solidFill>
              </a:rPr>
              <a:t>real-world example</a:t>
            </a:r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 sochna. "Yeh concept kahan use hota hai?" - yeh </a:t>
            </a:r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socho.</a:t>
            </a:r>
            <a:endParaRPr lang="en-US" sz="674" dirty="0"/>
          </a:p>
        </p:txBody>
      </p:sp>
      <p:sp>
        <p:nvSpPr>
          <p:cNvPr id="14" name="Text 11"/>
          <p:cNvSpPr/>
          <p:nvPr/>
        </p:nvSpPr>
        <p:spPr>
          <a:xfrm>
            <a:off x="4693444" y="1877355"/>
            <a:ext cx="409336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6B35"/>
                </a:solidFill>
              </a:rPr>
              <a:t>Tip 4: Code Review</a:t>
            </a:r>
            <a:endParaRPr lang="en-US" sz="683" dirty="0"/>
          </a:p>
        </p:txBody>
      </p:sp>
      <p:sp>
        <p:nvSpPr>
          <p:cNvPr id="15" name="Text 12"/>
          <p:cNvSpPr/>
          <p:nvPr/>
        </p:nvSpPr>
        <p:spPr>
          <a:xfrm>
            <a:off x="4693444" y="2041661"/>
            <a:ext cx="4093369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GitHub par open-source projects dekho aur samjho ki </a:t>
            </a:r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2C3E50"/>
                </a:solidFill>
              </a:rPr>
              <a:t>professional code</a:t>
            </a:r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 kaise likha jaata hai.</a:t>
            </a:r>
            <a:endParaRPr lang="en-US" sz="674" dirty="0"/>
          </a:p>
        </p:txBody>
      </p:sp>
      <p:sp>
        <p:nvSpPr>
          <p:cNvPr id="16" name="Shape 13"/>
          <p:cNvSpPr/>
          <p:nvPr/>
        </p:nvSpPr>
        <p:spPr>
          <a:xfrm>
            <a:off x="357188" y="2444558"/>
            <a:ext cx="8429625" cy="307181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7" name="Shape 14"/>
          <p:cNvSpPr/>
          <p:nvPr/>
        </p:nvSpPr>
        <p:spPr>
          <a:xfrm>
            <a:off x="357188" y="2444558"/>
            <a:ext cx="28575" cy="307181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8" name="Text 15"/>
          <p:cNvSpPr/>
          <p:nvPr/>
        </p:nvSpPr>
        <p:spPr>
          <a:xfrm>
            <a:off x="357188" y="2444558"/>
            <a:ext cx="8429625" cy="307181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📊 Important HTTP Status Codes</a:t>
            </a:r>
            <a:endParaRPr lang="en-US" sz="885" dirty="0"/>
          </a:p>
        </p:txBody>
      </p:sp>
      <p:sp>
        <p:nvSpPr>
          <p:cNvPr id="19" name="Shape 16"/>
          <p:cNvSpPr/>
          <p:nvPr/>
        </p:nvSpPr>
        <p:spPr>
          <a:xfrm>
            <a:off x="357188" y="2808889"/>
            <a:ext cx="1345397" cy="54432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20" name="Shape 17"/>
          <p:cNvSpPr/>
          <p:nvPr/>
        </p:nvSpPr>
        <p:spPr>
          <a:xfrm>
            <a:off x="357188" y="2808889"/>
            <a:ext cx="28575" cy="54432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21" name="Text 18"/>
          <p:cNvSpPr/>
          <p:nvPr/>
        </p:nvSpPr>
        <p:spPr>
          <a:xfrm>
            <a:off x="414338" y="2866039"/>
            <a:ext cx="1231097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6B35"/>
                </a:solidFill>
              </a:rPr>
              <a:t>200</a:t>
            </a:r>
            <a:endParaRPr lang="en-US" sz="885" dirty="0"/>
          </a:p>
        </p:txBody>
      </p:sp>
      <p:sp>
        <p:nvSpPr>
          <p:cNvPr id="22" name="Text 19"/>
          <p:cNvSpPr/>
          <p:nvPr/>
        </p:nvSpPr>
        <p:spPr>
          <a:xfrm>
            <a:off x="414338" y="3073208"/>
            <a:ext cx="1231097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2C3E50"/>
                </a:solidFill>
              </a:rPr>
              <a:t>OK - Success</a:t>
            </a:r>
            <a:endParaRPr lang="en-US" sz="621" dirty="0"/>
          </a:p>
        </p:txBody>
      </p:sp>
      <p:sp>
        <p:nvSpPr>
          <p:cNvPr id="23" name="Shape 20"/>
          <p:cNvSpPr/>
          <p:nvPr/>
        </p:nvSpPr>
        <p:spPr>
          <a:xfrm>
            <a:off x="1774022" y="2808889"/>
            <a:ext cx="1345397" cy="54432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24" name="Shape 21"/>
          <p:cNvSpPr/>
          <p:nvPr/>
        </p:nvSpPr>
        <p:spPr>
          <a:xfrm>
            <a:off x="1774022" y="2808889"/>
            <a:ext cx="28575" cy="54432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25" name="Text 22"/>
          <p:cNvSpPr/>
          <p:nvPr/>
        </p:nvSpPr>
        <p:spPr>
          <a:xfrm>
            <a:off x="1831172" y="2866039"/>
            <a:ext cx="1231097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6B35"/>
                </a:solidFill>
              </a:rPr>
              <a:t>201</a:t>
            </a:r>
            <a:endParaRPr lang="en-US" sz="885" dirty="0"/>
          </a:p>
        </p:txBody>
      </p:sp>
      <p:sp>
        <p:nvSpPr>
          <p:cNvPr id="26" name="Text 23"/>
          <p:cNvSpPr/>
          <p:nvPr/>
        </p:nvSpPr>
        <p:spPr>
          <a:xfrm>
            <a:off x="1831172" y="3073208"/>
            <a:ext cx="1231097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2C3E50"/>
                </a:solidFill>
              </a:rPr>
              <a:t>Created - Resource banaya</a:t>
            </a:r>
            <a:endParaRPr lang="en-US" sz="621" dirty="0"/>
          </a:p>
        </p:txBody>
      </p:sp>
      <p:sp>
        <p:nvSpPr>
          <p:cNvPr id="27" name="Shape 24"/>
          <p:cNvSpPr/>
          <p:nvPr/>
        </p:nvSpPr>
        <p:spPr>
          <a:xfrm>
            <a:off x="3190856" y="2808889"/>
            <a:ext cx="1345397" cy="54432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28" name="Shape 25"/>
          <p:cNvSpPr/>
          <p:nvPr/>
        </p:nvSpPr>
        <p:spPr>
          <a:xfrm>
            <a:off x="3190856" y="2808889"/>
            <a:ext cx="28575" cy="54432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29" name="Text 26"/>
          <p:cNvSpPr/>
          <p:nvPr/>
        </p:nvSpPr>
        <p:spPr>
          <a:xfrm>
            <a:off x="3248006" y="2866039"/>
            <a:ext cx="1231097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6B35"/>
                </a:solidFill>
              </a:rPr>
              <a:t>400</a:t>
            </a:r>
            <a:endParaRPr lang="en-US" sz="885" dirty="0"/>
          </a:p>
        </p:txBody>
      </p:sp>
      <p:sp>
        <p:nvSpPr>
          <p:cNvPr id="30" name="Text 27"/>
          <p:cNvSpPr/>
          <p:nvPr/>
        </p:nvSpPr>
        <p:spPr>
          <a:xfrm>
            <a:off x="3248006" y="3073208"/>
            <a:ext cx="1231097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2C3E50"/>
                </a:solidFill>
              </a:rPr>
              <a:t>Bad Request - Invalid data</a:t>
            </a:r>
            <a:endParaRPr lang="en-US" sz="621" dirty="0"/>
          </a:p>
        </p:txBody>
      </p:sp>
      <p:sp>
        <p:nvSpPr>
          <p:cNvPr id="31" name="Shape 28"/>
          <p:cNvSpPr/>
          <p:nvPr/>
        </p:nvSpPr>
        <p:spPr>
          <a:xfrm>
            <a:off x="4607691" y="2808889"/>
            <a:ext cx="1345425" cy="54432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32" name="Shape 29"/>
          <p:cNvSpPr/>
          <p:nvPr/>
        </p:nvSpPr>
        <p:spPr>
          <a:xfrm>
            <a:off x="4607691" y="2808889"/>
            <a:ext cx="28575" cy="54432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3" name="Text 30"/>
          <p:cNvSpPr/>
          <p:nvPr/>
        </p:nvSpPr>
        <p:spPr>
          <a:xfrm>
            <a:off x="4664841" y="2866039"/>
            <a:ext cx="123112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6B35"/>
                </a:solidFill>
              </a:rPr>
              <a:t>401</a:t>
            </a:r>
            <a:endParaRPr lang="en-US" sz="885" dirty="0"/>
          </a:p>
        </p:txBody>
      </p:sp>
      <p:sp>
        <p:nvSpPr>
          <p:cNvPr id="34" name="Text 31"/>
          <p:cNvSpPr/>
          <p:nvPr/>
        </p:nvSpPr>
        <p:spPr>
          <a:xfrm>
            <a:off x="4664841" y="3073208"/>
            <a:ext cx="1231125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2C3E50"/>
                </a:solidFill>
              </a:rPr>
              <a:t>Unauthorized - Login required</a:t>
            </a:r>
            <a:endParaRPr lang="en-US" sz="621" dirty="0"/>
          </a:p>
        </p:txBody>
      </p:sp>
      <p:sp>
        <p:nvSpPr>
          <p:cNvPr id="35" name="Shape 32"/>
          <p:cNvSpPr/>
          <p:nvPr/>
        </p:nvSpPr>
        <p:spPr>
          <a:xfrm>
            <a:off x="6024553" y="2808889"/>
            <a:ext cx="1345397" cy="54432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36" name="Shape 33"/>
          <p:cNvSpPr/>
          <p:nvPr/>
        </p:nvSpPr>
        <p:spPr>
          <a:xfrm>
            <a:off x="6024553" y="2808889"/>
            <a:ext cx="28575" cy="54432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7" name="Text 34"/>
          <p:cNvSpPr/>
          <p:nvPr/>
        </p:nvSpPr>
        <p:spPr>
          <a:xfrm>
            <a:off x="6081703" y="2866039"/>
            <a:ext cx="1231097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6B35"/>
                </a:solidFill>
              </a:rPr>
              <a:t>403</a:t>
            </a:r>
            <a:endParaRPr lang="en-US" sz="885" dirty="0"/>
          </a:p>
        </p:txBody>
      </p:sp>
      <p:sp>
        <p:nvSpPr>
          <p:cNvPr id="38" name="Text 35"/>
          <p:cNvSpPr/>
          <p:nvPr/>
        </p:nvSpPr>
        <p:spPr>
          <a:xfrm>
            <a:off x="6081703" y="3073208"/>
            <a:ext cx="1231097" cy="2228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2C3E50"/>
                </a:solidFill>
              </a:rPr>
              <a:t>Forbidden - Permission denied</a:t>
            </a:r>
            <a:endParaRPr lang="en-US" sz="621" dirty="0"/>
          </a:p>
        </p:txBody>
      </p:sp>
      <p:sp>
        <p:nvSpPr>
          <p:cNvPr id="39" name="Shape 36"/>
          <p:cNvSpPr/>
          <p:nvPr/>
        </p:nvSpPr>
        <p:spPr>
          <a:xfrm>
            <a:off x="7441388" y="2808889"/>
            <a:ext cx="1345397" cy="54432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40" name="Shape 37"/>
          <p:cNvSpPr/>
          <p:nvPr/>
        </p:nvSpPr>
        <p:spPr>
          <a:xfrm>
            <a:off x="7441388" y="2808889"/>
            <a:ext cx="28575" cy="54432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41" name="Text 38"/>
          <p:cNvSpPr/>
          <p:nvPr/>
        </p:nvSpPr>
        <p:spPr>
          <a:xfrm>
            <a:off x="7498538" y="2866039"/>
            <a:ext cx="1231097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6B35"/>
                </a:solidFill>
              </a:rPr>
              <a:t>404</a:t>
            </a:r>
            <a:endParaRPr lang="en-US" sz="885" dirty="0"/>
          </a:p>
        </p:txBody>
      </p:sp>
      <p:sp>
        <p:nvSpPr>
          <p:cNvPr id="42" name="Text 39"/>
          <p:cNvSpPr/>
          <p:nvPr/>
        </p:nvSpPr>
        <p:spPr>
          <a:xfrm>
            <a:off x="7498538" y="3073208"/>
            <a:ext cx="1231097" cy="2228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2C3E50"/>
                </a:solidFill>
              </a:rPr>
              <a:t>Not Found - Resource nahi mila</a:t>
            </a:r>
            <a:endParaRPr lang="en-US" sz="621" dirty="0"/>
          </a:p>
        </p:txBody>
      </p:sp>
      <p:sp>
        <p:nvSpPr>
          <p:cNvPr id="43" name="Shape 40"/>
          <p:cNvSpPr/>
          <p:nvPr/>
        </p:nvSpPr>
        <p:spPr>
          <a:xfrm>
            <a:off x="357188" y="3424647"/>
            <a:ext cx="8429625" cy="850413"/>
          </a:xfrm>
          <a:prstGeom prst="rect">
            <a:avLst/>
          </a:prstGeom>
          <a:solidFill>
            <a:srgbClr val="FFF9E6"/>
          </a:solidFill>
          <a:ln/>
        </p:spPr>
      </p:sp>
      <p:sp>
        <p:nvSpPr>
          <p:cNvPr id="44" name="Shape 41"/>
          <p:cNvSpPr/>
          <p:nvPr/>
        </p:nvSpPr>
        <p:spPr>
          <a:xfrm>
            <a:off x="357188" y="3424647"/>
            <a:ext cx="8429625" cy="1428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5" name="Shape 42"/>
          <p:cNvSpPr/>
          <p:nvPr/>
        </p:nvSpPr>
        <p:spPr>
          <a:xfrm>
            <a:off x="357188" y="3424647"/>
            <a:ext cx="28575" cy="850413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46" name="Text 43"/>
          <p:cNvSpPr/>
          <p:nvPr/>
        </p:nvSpPr>
        <p:spPr>
          <a:xfrm>
            <a:off x="442913" y="3496084"/>
            <a:ext cx="825817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FF6B35"/>
                </a:solidFill>
              </a:rPr>
              <a:t>🚀 Next Steps (Aur Seekhne Ke Liye)</a:t>
            </a:r>
            <a:endParaRPr lang="en-US" sz="734" dirty="0"/>
          </a:p>
        </p:txBody>
      </p:sp>
      <p:sp>
        <p:nvSpPr>
          <p:cNvPr id="47" name="Text 44"/>
          <p:cNvSpPr/>
          <p:nvPr/>
        </p:nvSpPr>
        <p:spPr>
          <a:xfrm>
            <a:off x="442913" y="3717541"/>
            <a:ext cx="8759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✓</a:t>
            </a:r>
            <a:endParaRPr lang="en-US" sz="674" dirty="0"/>
          </a:p>
        </p:txBody>
      </p:sp>
      <p:sp>
        <p:nvSpPr>
          <p:cNvPr id="48" name="Text 45"/>
          <p:cNvSpPr/>
          <p:nvPr/>
        </p:nvSpPr>
        <p:spPr>
          <a:xfrm>
            <a:off x="530507" y="3717541"/>
            <a:ext cx="66104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2C3E50"/>
                </a:solidFill>
              </a:rPr>
              <a:t>Microservices:</a:t>
            </a:r>
            <a:endParaRPr lang="en-US" sz="634" dirty="0"/>
          </a:p>
        </p:txBody>
      </p:sp>
      <p:sp>
        <p:nvSpPr>
          <p:cNvPr id="49" name="Text 46"/>
          <p:cNvSpPr/>
          <p:nvPr/>
        </p:nvSpPr>
        <p:spPr>
          <a:xfrm>
            <a:off x="1191555" y="3717541"/>
            <a:ext cx="250608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Ek bade application ko chhote services mein divide karna</a:t>
            </a:r>
            <a:endParaRPr lang="en-US" sz="674" dirty="0"/>
          </a:p>
        </p:txBody>
      </p:sp>
      <p:sp>
        <p:nvSpPr>
          <p:cNvPr id="50" name="Text 47"/>
          <p:cNvSpPr/>
          <p:nvPr/>
        </p:nvSpPr>
        <p:spPr>
          <a:xfrm>
            <a:off x="442913" y="3887902"/>
            <a:ext cx="8759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✓</a:t>
            </a:r>
            <a:endParaRPr lang="en-US" sz="674" dirty="0"/>
          </a:p>
        </p:txBody>
      </p:sp>
      <p:sp>
        <p:nvSpPr>
          <p:cNvPr id="51" name="Text 48"/>
          <p:cNvSpPr/>
          <p:nvPr/>
        </p:nvSpPr>
        <p:spPr>
          <a:xfrm>
            <a:off x="530507" y="3887902"/>
            <a:ext cx="100874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2C3E50"/>
                </a:solidFill>
              </a:rPr>
              <a:t>Docker &amp; Kubernetes:</a:t>
            </a:r>
            <a:endParaRPr lang="en-US" sz="634" dirty="0"/>
          </a:p>
        </p:txBody>
      </p:sp>
      <p:sp>
        <p:nvSpPr>
          <p:cNvPr id="52" name="Text 49"/>
          <p:cNvSpPr/>
          <p:nvPr/>
        </p:nvSpPr>
        <p:spPr>
          <a:xfrm>
            <a:off x="1539255" y="3887902"/>
            <a:ext cx="182349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Application ko containers mein run karna</a:t>
            </a:r>
            <a:endParaRPr lang="en-US" sz="674" dirty="0"/>
          </a:p>
        </p:txBody>
      </p:sp>
      <p:sp>
        <p:nvSpPr>
          <p:cNvPr id="53" name="Text 50"/>
          <p:cNvSpPr/>
          <p:nvPr/>
        </p:nvSpPr>
        <p:spPr>
          <a:xfrm>
            <a:off x="442913" y="4058264"/>
            <a:ext cx="8759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✓</a:t>
            </a:r>
            <a:endParaRPr lang="en-US" sz="674" dirty="0"/>
          </a:p>
        </p:txBody>
      </p:sp>
      <p:sp>
        <p:nvSpPr>
          <p:cNvPr id="54" name="Text 51"/>
          <p:cNvSpPr/>
          <p:nvPr/>
        </p:nvSpPr>
        <p:spPr>
          <a:xfrm>
            <a:off x="530507" y="4058264"/>
            <a:ext cx="58721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2C3E50"/>
                </a:solidFill>
              </a:rPr>
              <a:t>Unit Testing:</a:t>
            </a:r>
            <a:endParaRPr lang="en-US" sz="634" dirty="0"/>
          </a:p>
        </p:txBody>
      </p:sp>
      <p:sp>
        <p:nvSpPr>
          <p:cNvPr id="55" name="Text 52"/>
          <p:cNvSpPr/>
          <p:nvPr/>
        </p:nvSpPr>
        <p:spPr>
          <a:xfrm>
            <a:off x="1117718" y="4058264"/>
            <a:ext cx="172987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Code ko test karna aur bugs dhundhna</a:t>
            </a:r>
            <a:endParaRPr lang="en-US" sz="674" dirty="0"/>
          </a:p>
        </p:txBody>
      </p:sp>
      <p:sp>
        <p:nvSpPr>
          <p:cNvPr id="56" name="Text 53"/>
          <p:cNvSpPr/>
          <p:nvPr/>
        </p:nvSpPr>
        <p:spPr>
          <a:xfrm>
            <a:off x="4643438" y="3717541"/>
            <a:ext cx="8759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✓</a:t>
            </a:r>
            <a:endParaRPr lang="en-US" sz="674" dirty="0"/>
          </a:p>
        </p:txBody>
      </p:sp>
      <p:sp>
        <p:nvSpPr>
          <p:cNvPr id="57" name="Text 54"/>
          <p:cNvSpPr/>
          <p:nvPr/>
        </p:nvSpPr>
        <p:spPr>
          <a:xfrm>
            <a:off x="4731032" y="3717541"/>
            <a:ext cx="76775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2C3E50"/>
                </a:solidFill>
              </a:rPr>
              <a:t>Design Patterns:</a:t>
            </a:r>
            <a:endParaRPr lang="en-US" sz="634" dirty="0"/>
          </a:p>
        </p:txBody>
      </p:sp>
      <p:sp>
        <p:nvSpPr>
          <p:cNvPr id="58" name="Text 55"/>
          <p:cNvSpPr/>
          <p:nvPr/>
        </p:nvSpPr>
        <p:spPr>
          <a:xfrm>
            <a:off x="5498790" y="3717541"/>
            <a:ext cx="164749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Singleton, Factory, Observer patterns</a:t>
            </a:r>
            <a:endParaRPr lang="en-US" sz="674" dirty="0"/>
          </a:p>
        </p:txBody>
      </p:sp>
      <p:sp>
        <p:nvSpPr>
          <p:cNvPr id="59" name="Text 56"/>
          <p:cNvSpPr/>
          <p:nvPr/>
        </p:nvSpPr>
        <p:spPr>
          <a:xfrm>
            <a:off x="4643438" y="3887902"/>
            <a:ext cx="8759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✓</a:t>
            </a:r>
            <a:endParaRPr lang="en-US" sz="674" dirty="0"/>
          </a:p>
        </p:txBody>
      </p:sp>
      <p:sp>
        <p:nvSpPr>
          <p:cNvPr id="60" name="Text 57"/>
          <p:cNvSpPr/>
          <p:nvPr/>
        </p:nvSpPr>
        <p:spPr>
          <a:xfrm>
            <a:off x="4731032" y="3887902"/>
            <a:ext cx="64397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2C3E50"/>
                </a:solidFill>
              </a:rPr>
              <a:t>Cloud (Azure):</a:t>
            </a:r>
            <a:endParaRPr lang="en-US" sz="634" dirty="0"/>
          </a:p>
        </p:txBody>
      </p:sp>
      <p:sp>
        <p:nvSpPr>
          <p:cNvPr id="61" name="Text 58"/>
          <p:cNvSpPr/>
          <p:nvPr/>
        </p:nvSpPr>
        <p:spPr>
          <a:xfrm>
            <a:off x="5375002" y="3887902"/>
            <a:ext cx="166848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Application ko cloud par deploy karna</a:t>
            </a:r>
            <a:endParaRPr lang="en-US" sz="674" dirty="0"/>
          </a:p>
        </p:txBody>
      </p:sp>
      <p:sp>
        <p:nvSpPr>
          <p:cNvPr id="62" name="Shape 59"/>
          <p:cNvSpPr/>
          <p:nvPr/>
        </p:nvSpPr>
        <p:spPr>
          <a:xfrm>
            <a:off x="357188" y="4346497"/>
            <a:ext cx="8429625" cy="560059"/>
          </a:xfrm>
          <a:prstGeom prst="rect">
            <a:avLst/>
          </a:prstGeom>
          <a:solidFill>
            <a:srgbClr val="138808"/>
          </a:solidFill>
          <a:ln/>
        </p:spPr>
      </p:sp>
      <p:sp>
        <p:nvSpPr>
          <p:cNvPr id="63" name="Shape 60"/>
          <p:cNvSpPr/>
          <p:nvPr/>
        </p:nvSpPr>
        <p:spPr>
          <a:xfrm>
            <a:off x="357188" y="4346497"/>
            <a:ext cx="8429625" cy="14288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64" name="Shape 61"/>
          <p:cNvSpPr/>
          <p:nvPr/>
        </p:nvSpPr>
        <p:spPr>
          <a:xfrm>
            <a:off x="357188" y="4892269"/>
            <a:ext cx="8429625" cy="14288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65" name="Text 62"/>
          <p:cNvSpPr/>
          <p:nvPr/>
        </p:nvSpPr>
        <p:spPr>
          <a:xfrm>
            <a:off x="357188" y="4346497"/>
            <a:ext cx="8429625" cy="560059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🔥 Offer letters aa hi jayenge! 🔥</a:t>
            </a:r>
            <a:pPr algn="ctr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
</a:t>
            </a:r>
            <a:pPr algn="ctr" indent="0" marL="0">
              <a:lnSpc>
                <a:spcPts val="14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Mehnat karo, consistent raho, aur success zaroor milegi!</a:t>
            </a:r>
            <a:endParaRPr lang="en-US" sz="88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2025-11-25T16:00:13Z</dcterms:created>
  <dcterms:modified xsi:type="dcterms:W3CDTF">2025-11-25T16:00:13Z</dcterms:modified>
</cp:coreProperties>
</file>